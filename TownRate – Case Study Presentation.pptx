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04"/>
    <p:restoredTop sz="94610"/>
  </p:normalViewPr>
  <p:slideViewPr>
    <p:cSldViewPr snapToGrid="0" snapToObjects="1">
      <p:cViewPr varScale="1">
        <p:scale>
          <a:sx n="147" d="100"/>
          <a:sy n="147" d="100"/>
        </p:scale>
        <p:origin x="224"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253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Aditya Sunil Chouksey, and my case study is TownRate – the backend for a local business review platform, built with Node.js, Express, MongoDB and Firebase. Transition: "Let me start with the problem it solves."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Communities want to discover and review local businesses. The PS asks for an API where owners publish profiles with photos, users search by category or location, and everyone can rate and review. The hard part is keeping it fair and consistent – one review per user, owners cannot rate themselves, and the average rating must always be correct. Transition: "Here is exactly what the problem statement asked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required endpoint is implemented – auth, businesses, reviews, categories and search – plus both optional features. I added delete endpoints to complete CRUD, roles, a health check and automated tests. Documentation is provided as both Swagger and a Postman collection, and the API is deployed on Render. Transition: "How does a request move through the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Requests pass through layers. Global middleware adds security headers and parses JSON. The router picks the chain for the URL. Route middleware checks the token, the role, parses uploads and validates input. Controllers contain the business rules, models talk to MongoDB Atlas, and the storage service sends photos to Firebase. Any error goes to one error handler, so every error looks the same. Transition: "The data model behind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collections. Reviews are a separate collection because they grow without limit and are queried on their own; photos are embedded because they are few and always shown with the business. The average rating is cached on the business so lists sort fast, and a unique compound index guarantees one review per user per business even under simultaneous requests. Transition: "Next, who is allowed to do what."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Passwords are hashed with bcrypt. Login returns a signed JWT that the client sends as a Bearer token. Users who sign in with Firebase send their Firebase token once; the server verifies it with the Admin SDK and gives them the same JWT. Roles decide what an account may do, and controllers also check ownership – an owner can only edit their own business. Transition: "Now the features users actually see."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escapes the keyword and matches several fields, including the category name, so "cafe" finds every cafe. Near-me search stores longitude and latitude as GeoJSON and uses $geoNear to return businesses within the radius, nearest first. Each review triggers an aggregation that recalculates the average, and owners can reply to reviews. Transition: "Photos are handled like this."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multer reads the upload in memory and rejects anything that is not an image or is too large. The business is validated first, then photos go to Firebase Storage with a private download token, and if saving fails the files are deleted again so nothing is left behind. Transition: "How do we know it works?"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documents itself with Swagger at /api-docs. The Postman collection runs the whole scenario automatically, passing tokens and ids between requests. There are 41 automated tests covering auth, roles, validation, uploads, search, geo search, ratings and errors. Transition: "Finally, deployment and results."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runs on Render from the GitHub repository using a Blueprint file, with MongoDB Atlas as the database and all secrets in environment variables. The health endpoint reports the database and Firebase status. Transition: "To conclude…"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TownRate meets every requirement of the case study including both optional features. Next steps would be rate limiting, refresh tokens, image thumbnails, smarter search and a frontend. Thank you –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645940"/>
            <a:ext cx="8813800" cy="467320"/>
          </a:xfrm>
          <a:prstGeom prst="rect">
            <a:avLst/>
          </a:prstGeom>
          <a:noFill/>
          <a:ln/>
        </p:spPr>
        <p:txBody>
          <a:bodyPr wrap="square" lIns="0" tIns="0" rIns="0" bIns="0" rtlCol="0" anchor="t"/>
          <a:lstStyle>
            <a:lvl1pPr marL="0" indent="0" algn="l">
              <a:lnSpc>
                <a:spcPct val="115000"/>
              </a:lnSpc>
              <a:buNone/>
              <a:defRPr lang="en-US" sz="3200" dirty="0">
                <a:solidFill>
                  <a:srgbClr val="15233F"/>
                </a:solidFill>
                <a:latin typeface="Rubik" pitchFamily="34" charset="0"/>
                <a:ea typeface="Rubik" pitchFamily="34" charset="-122"/>
                <a:cs typeface="Rubi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418060"/>
            <a:ext cx="10566400" cy="3627140"/>
          </a:xfrm>
          <a:prstGeom prst="rect">
            <a:avLst/>
          </a:prstGeom>
          <a:noFill/>
          <a:ln/>
        </p:spPr>
        <p:txBody>
          <a:bodyPr wrap="square" lIns="0" tIns="0" rIns="0" bIns="0" rtlCol="0" anchor="t"/>
          <a:lstStyle>
            <a:lvl1pPr marL="0" indent="0" algn="l">
              <a:lnSpc>
                <a:spcPct val="140000"/>
              </a:lnSpc>
              <a:buNone/>
              <a:defRPr lang="en-US" sz="1600" dirty="0">
                <a:solidFill>
                  <a:srgbClr val="44506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645940"/>
            <a:ext cx="8813800" cy="467320"/>
          </a:xfrm>
          <a:prstGeom prst="rect">
            <a:avLst/>
          </a:prstGeom>
          <a:noFill/>
          <a:ln/>
        </p:spPr>
        <p:txBody>
          <a:bodyPr wrap="square" lIns="0" tIns="0" rIns="0" bIns="0" rtlCol="0" anchor="t"/>
          <a:lstStyle>
            <a:lvl1pPr marL="0" indent="0" algn="l">
              <a:lnSpc>
                <a:spcPct val="115000"/>
              </a:lnSpc>
              <a:buNone/>
              <a:defRPr lang="en-US" sz="3200" dirty="0">
                <a:solidFill>
                  <a:srgbClr val="15233F"/>
                </a:solidFill>
                <a:latin typeface="Rubik" pitchFamily="34" charset="0"/>
                <a:ea typeface="Rubik" pitchFamily="34" charset="-122"/>
                <a:cs typeface="Rubi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418060"/>
            <a:ext cx="10566400" cy="3627140"/>
          </a:xfrm>
          <a:prstGeom prst="rect">
            <a:avLst/>
          </a:prstGeom>
          <a:noFill/>
          <a:ln/>
        </p:spPr>
        <p:txBody>
          <a:bodyPr wrap="square" lIns="0" tIns="0" rIns="0" bIns="0" rtlCol="0" anchor="t"/>
          <a:lstStyle>
            <a:lvl1pPr marL="0" indent="0" algn="l">
              <a:lnSpc>
                <a:spcPct val="140000"/>
              </a:lnSpc>
              <a:buNone/>
              <a:defRPr lang="en-US" sz="1600" dirty="0">
                <a:solidFill>
                  <a:srgbClr val="44506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F"/>
        </a:solidFill>
        <a:effectLst/>
      </p:bgPr>
    </p:bg>
    <p:spTree>
      <p:nvGrpSpPr>
        <p:cNvPr id="1" name=""/>
        <p:cNvGrpSpPr/>
        <p:nvPr/>
      </p:nvGrpSpPr>
      <p:grpSpPr>
        <a:xfrm>
          <a:off x="0" y="0"/>
          <a:ext cx="0" cy="0"/>
          <a:chOff x="0" y="0"/>
          <a:chExt cx="0" cy="0"/>
        </a:xfrm>
      </p:grpSpPr>
      <p:sp>
        <p:nvSpPr>
          <p:cNvPr id="2" name="Shape 0"/>
          <p:cNvSpPr/>
          <p:nvPr/>
        </p:nvSpPr>
        <p:spPr>
          <a:xfrm>
            <a:off x="812800" y="812800"/>
            <a:ext cx="2393950" cy="895350"/>
          </a:xfrm>
          <a:prstGeom prst="roundRect">
            <a:avLst>
              <a:gd name="adj" fmla="val 11348"/>
            </a:avLst>
          </a:prstGeom>
          <a:solidFill>
            <a:srgbClr val="F6F4EF"/>
          </a:solidFill>
          <a:ln/>
        </p:spPr>
        <p:txBody>
          <a:bodyPr/>
          <a:lstStyle/>
          <a:p>
            <a:endParaRPr lang="en-US"/>
          </a:p>
        </p:txBody>
      </p:sp>
      <p:pic>
        <p:nvPicPr>
          <p:cNvPr id="3" name="Image 0" descr="ITM Skills University logo"/>
          <p:cNvPicPr>
            <a:picLocks noChangeAspect="1"/>
          </p:cNvPicPr>
          <p:nvPr/>
        </p:nvPicPr>
        <p:blipFill>
          <a:blip r:embed="rId3"/>
          <a:srcRect t="-68" b="-68"/>
          <a:stretch/>
        </p:blipFill>
        <p:spPr>
          <a:xfrm>
            <a:off x="990600" y="939800"/>
            <a:ext cx="2038350" cy="641350"/>
          </a:xfrm>
          <a:prstGeom prst="rect">
            <a:avLst/>
          </a:prstGeom>
        </p:spPr>
      </p:pic>
      <p:sp>
        <p:nvSpPr>
          <p:cNvPr id="4" name="Text 1"/>
          <p:cNvSpPr/>
          <p:nvPr/>
        </p:nvSpPr>
        <p:spPr>
          <a:xfrm>
            <a:off x="3409950" y="1118245"/>
            <a:ext cx="2362617"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CC6D8"/>
                </a:solidFill>
                <a:latin typeface="IBM Plex Sans" pitchFamily="34" charset="0"/>
                <a:ea typeface="IBM Plex Sans" pitchFamily="34" charset="-122"/>
                <a:cs typeface="IBM Plex Sans" pitchFamily="34" charset="-120"/>
              </a:rPr>
              <a:t>School of Future Tech</a:t>
            </a:r>
            <a:endParaRPr lang="en-US" sz="1600" dirty="0"/>
          </a:p>
        </p:txBody>
      </p:sp>
      <p:sp>
        <p:nvSpPr>
          <p:cNvPr id="5" name="Text 2"/>
          <p:cNvSpPr/>
          <p:nvPr/>
        </p:nvSpPr>
        <p:spPr>
          <a:xfrm>
            <a:off x="812800" y="2693095"/>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266"/>
                </a:solidFill>
                <a:latin typeface="IBM Plex Sans" pitchFamily="34" charset="0"/>
                <a:ea typeface="IBM Plex Sans" pitchFamily="34" charset="-122"/>
                <a:cs typeface="IBM Plex Sans" pitchFamily="34" charset="-120"/>
              </a:rPr>
              <a:t>CASE STUDY 95 · BACKEND DEVELOPMENT</a:t>
            </a:r>
            <a:endParaRPr lang="en-US" sz="1200" dirty="0"/>
          </a:p>
        </p:txBody>
      </p:sp>
      <p:sp>
        <p:nvSpPr>
          <p:cNvPr id="6" name="Text 3"/>
          <p:cNvSpPr>
            <a:spLocks noGrp="1"/>
          </p:cNvSpPr>
          <p:nvPr>
            <p:ph type="title"/>
          </p:nvPr>
        </p:nvSpPr>
        <p:spPr>
          <a:xfrm>
            <a:off x="812800" y="3058815"/>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Rubik" pitchFamily="34" charset="0"/>
                <a:ea typeface="Rubik" pitchFamily="34" charset="-122"/>
                <a:cs typeface="Rubik" pitchFamily="34" charset="-120"/>
              </a:rPr>
              <a:t>TownRate</a:t>
            </a:r>
            <a:endParaRPr lang="en-US" sz="4800" dirty="0"/>
          </a:p>
        </p:txBody>
      </p:sp>
      <p:sp>
        <p:nvSpPr>
          <p:cNvPr id="7" name="Text 4"/>
          <p:cNvSpPr/>
          <p:nvPr/>
        </p:nvSpPr>
        <p:spPr>
          <a:xfrm>
            <a:off x="812800" y="3851275"/>
            <a:ext cx="10883392"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DDE3EE"/>
                </a:solidFill>
                <a:latin typeface="IBM Plex Sans" pitchFamily="34" charset="0"/>
                <a:ea typeface="IBM Plex Sans" pitchFamily="34" charset="-122"/>
                <a:cs typeface="IBM Plex Sans" pitchFamily="34" charset="-120"/>
              </a:rPr>
              <a:t>Local Business Review Platform — a REST API built with Node.js, Express, MongoDB and Firebase</a:t>
            </a:r>
            <a:endParaRPr lang="en-US" sz="2000" dirty="0"/>
          </a:p>
        </p:txBody>
      </p:sp>
      <p:sp>
        <p:nvSpPr>
          <p:cNvPr id="8" name="Text 5"/>
          <p:cNvSpPr/>
          <p:nvPr/>
        </p:nvSpPr>
        <p:spPr>
          <a:xfrm>
            <a:off x="812800" y="549662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4EF"/>
                </a:solidFill>
                <a:latin typeface="IBM Plex Sans" pitchFamily="34" charset="0"/>
                <a:ea typeface="IBM Plex Sans" pitchFamily="34" charset="-122"/>
                <a:cs typeface="IBM Plex Sans" pitchFamily="34" charset="-120"/>
              </a:rPr>
              <a:t>Aditya Sunil Chouksey</a:t>
            </a:r>
            <a:endParaRPr lang="en-US" sz="1600" dirty="0"/>
          </a:p>
        </p:txBody>
      </p:sp>
      <p:sp>
        <p:nvSpPr>
          <p:cNvPr id="9" name="Text 6"/>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CC6D8"/>
                </a:solidFill>
                <a:latin typeface="IBM Plex Sans" pitchFamily="34" charset="0"/>
                <a:ea typeface="IBM Plex Sans" pitchFamily="34" charset="-122"/>
                <a:cs typeface="IBM Plex Sans" pitchFamily="34" charset="-120"/>
              </a:rPr>
              <a:t>150096725070 · B.Tech Computer Science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41C"/>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a:spLocks noGrp="1"/>
          </p:cNvSpPr>
          <p:nvPr>
            <p:ph type="title"/>
          </p:nvPr>
        </p:nvSpPr>
        <p:spPr>
          <a:xfrm>
            <a:off x="812800" y="12801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33F"/>
                </a:solidFill>
                <a:latin typeface="Rubik" pitchFamily="34" charset="0"/>
                <a:ea typeface="Rubik" pitchFamily="34" charset="-122"/>
                <a:cs typeface="Rubik" pitchFamily="34" charset="-120"/>
              </a:rPr>
              <a:t>People need to find – and trust – local businesses</a:t>
            </a:r>
            <a:endParaRPr lang="en-US" sz="3200" dirty="0"/>
          </a:p>
        </p:txBody>
      </p:sp>
      <p:sp>
        <p:nvSpPr>
          <p:cNvPr id="4" name="Shape 2"/>
          <p:cNvSpPr/>
          <p:nvPr/>
        </p:nvSpPr>
        <p:spPr>
          <a:xfrm>
            <a:off x="815975" y="2004616"/>
            <a:ext cx="3380284" cy="1774130"/>
          </a:xfrm>
          <a:prstGeom prst="roundRect">
            <a:avLst>
              <a:gd name="adj" fmla="val 5548"/>
            </a:avLst>
          </a:prstGeom>
          <a:solidFill>
            <a:srgbClr val="FFFFFF"/>
          </a:solidFill>
          <a:ln w="6350">
            <a:solidFill>
              <a:srgbClr val="D9DEE7"/>
            </a:solidFill>
            <a:prstDash val="solid"/>
          </a:ln>
        </p:spPr>
        <p:txBody>
          <a:bodyPr/>
          <a:lstStyle/>
          <a:p>
            <a:endParaRPr lang="en-US"/>
          </a:p>
        </p:txBody>
      </p:sp>
      <p:sp>
        <p:nvSpPr>
          <p:cNvPr id="5" name="Text 3"/>
          <p:cNvSpPr/>
          <p:nvPr/>
        </p:nvSpPr>
        <p:spPr>
          <a:xfrm>
            <a:off x="1073150" y="2261791"/>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33F"/>
                </a:solidFill>
                <a:latin typeface="Rubik" pitchFamily="34" charset="0"/>
                <a:ea typeface="Rubik" pitchFamily="34" charset="-122"/>
                <a:cs typeface="Rubik" pitchFamily="34" charset="-120"/>
              </a:rPr>
              <a:t>Owners</a:t>
            </a:r>
            <a:endParaRPr lang="en-US" sz="2000" dirty="0"/>
          </a:p>
        </p:txBody>
      </p:sp>
      <p:sp>
        <p:nvSpPr>
          <p:cNvPr id="6" name="Text 4"/>
          <p:cNvSpPr/>
          <p:nvPr/>
        </p:nvSpPr>
        <p:spPr>
          <a:xfrm>
            <a:off x="1073150" y="2668191"/>
            <a:ext cx="2951912"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IBM Plex Sans" pitchFamily="34" charset="0"/>
                <a:ea typeface="IBM Plex Sans" pitchFamily="34" charset="-122"/>
                <a:cs typeface="IBM Plex Sans" pitchFamily="34" charset="-120"/>
              </a:rPr>
              <a:t>Need a simple profile with photos, and a way to reply to reviews.</a:t>
            </a:r>
            <a:endParaRPr lang="en-US" sz="1600" dirty="0"/>
          </a:p>
        </p:txBody>
      </p:sp>
      <p:sp>
        <p:nvSpPr>
          <p:cNvPr id="7" name="Shape 5"/>
          <p:cNvSpPr/>
          <p:nvPr/>
        </p:nvSpPr>
        <p:spPr>
          <a:xfrm>
            <a:off x="4405809" y="2004616"/>
            <a:ext cx="3380333" cy="1774130"/>
          </a:xfrm>
          <a:prstGeom prst="roundRect">
            <a:avLst>
              <a:gd name="adj" fmla="val 5548"/>
            </a:avLst>
          </a:prstGeom>
          <a:solidFill>
            <a:srgbClr val="FFFFFF"/>
          </a:solidFill>
          <a:ln w="6350">
            <a:solidFill>
              <a:srgbClr val="D9DEE7"/>
            </a:solidFill>
            <a:prstDash val="solid"/>
          </a:ln>
        </p:spPr>
        <p:txBody>
          <a:bodyPr/>
          <a:lstStyle/>
          <a:p>
            <a:endParaRPr lang="en-US"/>
          </a:p>
        </p:txBody>
      </p:sp>
      <p:sp>
        <p:nvSpPr>
          <p:cNvPr id="8" name="Text 6"/>
          <p:cNvSpPr/>
          <p:nvPr/>
        </p:nvSpPr>
        <p:spPr>
          <a:xfrm>
            <a:off x="4662984" y="2261791"/>
            <a:ext cx="295196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33F"/>
                </a:solidFill>
                <a:latin typeface="Rubik" pitchFamily="34" charset="0"/>
                <a:ea typeface="Rubik" pitchFamily="34" charset="-122"/>
                <a:cs typeface="Rubik" pitchFamily="34" charset="-120"/>
              </a:rPr>
              <a:t>Users</a:t>
            </a:r>
            <a:endParaRPr lang="en-US" sz="2000" dirty="0"/>
          </a:p>
        </p:txBody>
      </p:sp>
      <p:sp>
        <p:nvSpPr>
          <p:cNvPr id="9" name="Text 7"/>
          <p:cNvSpPr/>
          <p:nvPr/>
        </p:nvSpPr>
        <p:spPr>
          <a:xfrm>
            <a:off x="4662984" y="2668191"/>
            <a:ext cx="2951963"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IBM Plex Sans" pitchFamily="34" charset="0"/>
                <a:ea typeface="IBM Plex Sans" pitchFamily="34" charset="-122"/>
                <a:cs typeface="IBM Plex Sans" pitchFamily="34" charset="-120"/>
              </a:rPr>
              <a:t>Need to search by keyword, category or location – and see what is near them.</a:t>
            </a:r>
            <a:endParaRPr lang="en-US" sz="1600" dirty="0"/>
          </a:p>
        </p:txBody>
      </p:sp>
      <p:sp>
        <p:nvSpPr>
          <p:cNvPr id="10" name="Shape 8"/>
          <p:cNvSpPr/>
          <p:nvPr/>
        </p:nvSpPr>
        <p:spPr>
          <a:xfrm>
            <a:off x="7995692" y="2004616"/>
            <a:ext cx="3380333" cy="1774130"/>
          </a:xfrm>
          <a:prstGeom prst="roundRect">
            <a:avLst>
              <a:gd name="adj" fmla="val 5548"/>
            </a:avLst>
          </a:prstGeom>
          <a:solidFill>
            <a:srgbClr val="FFFFFF"/>
          </a:solidFill>
          <a:ln w="6350">
            <a:solidFill>
              <a:srgbClr val="D9DEE7"/>
            </a:solidFill>
            <a:prstDash val="solid"/>
          </a:ln>
        </p:spPr>
        <p:txBody>
          <a:bodyPr/>
          <a:lstStyle/>
          <a:p>
            <a:endParaRPr lang="en-US"/>
          </a:p>
        </p:txBody>
      </p:sp>
      <p:sp>
        <p:nvSpPr>
          <p:cNvPr id="11" name="Text 9"/>
          <p:cNvSpPr/>
          <p:nvPr/>
        </p:nvSpPr>
        <p:spPr>
          <a:xfrm>
            <a:off x="8252867" y="2261791"/>
            <a:ext cx="295196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33F"/>
                </a:solidFill>
                <a:latin typeface="Rubik" pitchFamily="34" charset="0"/>
                <a:ea typeface="Rubik" pitchFamily="34" charset="-122"/>
                <a:cs typeface="Rubik" pitchFamily="34" charset="-120"/>
              </a:rPr>
              <a:t>Fairness</a:t>
            </a:r>
            <a:endParaRPr lang="en-US" sz="2000" dirty="0"/>
          </a:p>
        </p:txBody>
      </p:sp>
      <p:sp>
        <p:nvSpPr>
          <p:cNvPr id="12" name="Text 10"/>
          <p:cNvSpPr/>
          <p:nvPr/>
        </p:nvSpPr>
        <p:spPr>
          <a:xfrm>
            <a:off x="8252867" y="2668191"/>
            <a:ext cx="2951963"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IBM Plex Sans" pitchFamily="34" charset="0"/>
                <a:ea typeface="IBM Plex Sans" pitchFamily="34" charset="-122"/>
                <a:cs typeface="IBM Plex Sans" pitchFamily="34" charset="-120"/>
              </a:rPr>
              <a:t>One review per person, no self-reviews, an average rating that is always correct.</a:t>
            </a:r>
            <a:endParaRPr lang="en-US" sz="16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IBM Plex Sans" pitchFamily="34" charset="0"/>
                <a:ea typeface="IBM Plex Sans" pitchFamily="34" charset="-122"/>
                <a:cs typeface="IBM Plex Sans" pitchFamily="34" charset="-120"/>
              </a:rPr>
              <a:t>TownRate · Case Study 95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EE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41C"/>
                </a:solidFill>
                <a:latin typeface="IBM Plex Sans" pitchFamily="34" charset="0"/>
                <a:ea typeface="IBM Plex Sans" pitchFamily="34" charset="-122"/>
                <a:cs typeface="IBM Plex Sans" pitchFamily="34" charset="-120"/>
              </a:rPr>
              <a:t>SCOPE</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33F"/>
                </a:solidFill>
                <a:latin typeface="Rubik" pitchFamily="34" charset="0"/>
                <a:ea typeface="Rubik" pitchFamily="34" charset="-122"/>
                <a:cs typeface="Rubik" pitchFamily="34" charset="-120"/>
              </a:rPr>
              <a:t>Every requirement is covered</a:t>
            </a:r>
            <a:endParaRPr lang="en-US" sz="3200" dirty="0"/>
          </a:p>
        </p:txBody>
      </p:sp>
      <p:sp>
        <p:nvSpPr>
          <p:cNvPr id="4" name="Shape 2"/>
          <p:cNvSpPr/>
          <p:nvPr/>
        </p:nvSpPr>
        <p:spPr>
          <a:xfrm>
            <a:off x="812800" y="1899841"/>
            <a:ext cx="10566400" cy="3872805"/>
          </a:xfrm>
          <a:prstGeom prst="roundRect">
            <a:avLst>
              <a:gd name="adj" fmla="val 1968"/>
            </a:avLst>
          </a:prstGeom>
          <a:solidFill>
            <a:srgbClr val="FFFFFF"/>
          </a:solidFill>
          <a:ln/>
        </p:spPr>
        <p:txBody>
          <a:bodyPr/>
          <a:lstStyle/>
          <a:p>
            <a:endParaRPr lang="en-US"/>
          </a:p>
        </p:txBody>
      </p:sp>
      <p:sp>
        <p:nvSpPr>
          <p:cNvPr id="5" name="Shape 3"/>
          <p:cNvSpPr/>
          <p:nvPr/>
        </p:nvSpPr>
        <p:spPr>
          <a:xfrm>
            <a:off x="812800" y="1899841"/>
            <a:ext cx="10566400" cy="3872805"/>
          </a:xfrm>
          <a:custGeom>
            <a:avLst/>
            <a:gdLst/>
            <a:ahLst/>
            <a:cxnLst/>
            <a:rect l="l" t="t" r="r" b="b"/>
            <a:pathLst>
              <a:path w="10566400" h="3872805">
                <a:moveTo>
                  <a:pt x="76200" y="3872805"/>
                </a:moveTo>
                <a:lnTo>
                  <a:pt x="76200" y="3872805"/>
                </a:lnTo>
                <a:arcTo wR="76200" hR="76200" stAng="5400000" swAng="5400000"/>
                <a:lnTo>
                  <a:pt x="0" y="76200"/>
                </a:lnTo>
                <a:arcTo wR="76200" hR="76200" stAng="10800000" swAng="5400000"/>
                <a:lnTo>
                  <a:pt x="10490200" y="0"/>
                </a:lnTo>
                <a:arcTo wR="76200" hR="76200" stAng="16200000" swAng="5400000"/>
                <a:lnTo>
                  <a:pt x="10566400" y="76200"/>
                </a:lnTo>
                <a:arcTo wR="76200" hR="63500" stAng="0" swAng="-5400000"/>
                <a:lnTo>
                  <a:pt x="76200" y="12700"/>
                </a:lnTo>
                <a:arcTo wR="63500" hR="63500" stAng="16200000" swAng="-5400000"/>
                <a:lnTo>
                  <a:pt x="12700" y="3796605"/>
                </a:lnTo>
                <a:arcTo wR="63500" hR="76200" stAng="10800000" swAng="-5400000"/>
                <a:close/>
              </a:path>
            </a:pathLst>
          </a:custGeom>
          <a:solidFill>
            <a:srgbClr val="141413">
              <a:alpha val="22000"/>
            </a:srgbClr>
          </a:solidFill>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4239605975"/>
              </p:ext>
            </p:extLst>
          </p:nvPr>
        </p:nvGraphicFramePr>
        <p:xfrm>
          <a:off x="825500" y="1912541"/>
          <a:ext cx="10553700" cy="3860110"/>
        </p:xfrm>
        <a:graphic>
          <a:graphicData uri="http://schemas.openxmlformats.org/drawingml/2006/table">
            <a:tbl>
              <a:tblPr/>
              <a:tblGrid>
                <a:gridCol w="7809738">
                  <a:extLst>
                    <a:ext uri="{9D8B030D-6E8A-4147-A177-3AD203B41FA5}">
                      <a16:colId xmlns:a16="http://schemas.microsoft.com/office/drawing/2014/main" val="20000"/>
                    </a:ext>
                  </a:extLst>
                </a:gridCol>
                <a:gridCol w="2743962">
                  <a:extLst>
                    <a:ext uri="{9D8B030D-6E8A-4147-A177-3AD203B41FA5}">
                      <a16:colId xmlns:a16="http://schemas.microsoft.com/office/drawing/2014/main" val="20001"/>
                    </a:ext>
                  </a:extLst>
                </a:gridCol>
              </a:tblGrid>
              <a:tr h="386011">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Requirement from the problem statement</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152035"/>
                      </a:solidFill>
                      <a:prstDash val="solid"/>
                      <a:round/>
                      <a:headEnd type="none" w="med" len="med"/>
                      <a:tailEnd type="none" w="med" len="med"/>
                    </a:lnR>
                    <a:lnT w="0" cap="flat" cmpd="sng" algn="ctr">
                      <a:noFill/>
                    </a:lnT>
                    <a:lnB w="12700" cap="flat" cmpd="sng" algn="ctr">
                      <a:solidFill>
                        <a:srgbClr val="152035"/>
                      </a:solidFill>
                      <a:prstDash val="solid"/>
                      <a:round/>
                      <a:headEnd type="none" w="med" len="med"/>
                      <a:tailEnd type="none" w="med" len="med"/>
                    </a:lnB>
                    <a:solidFill>
                      <a:srgbClr val="15233F"/>
                    </a:solidFill>
                  </a:tcPr>
                </a:tc>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Status</a:t>
                      </a:r>
                      <a:endParaRPr lang="en-US" sz="1400" dirty="0">
                        <a:latin typeface="IBM Plex Sans" charset="0"/>
                        <a:ea typeface="IBM Plex Sans" charset="0"/>
                        <a:cs typeface="IBM Plex Sans" charset="0"/>
                      </a:endParaRPr>
                    </a:p>
                  </a:txBody>
                  <a:tcPr marL="62230" marR="62230" marT="62230" marB="62230">
                    <a:lnL w="12700" cap="flat" cmpd="sng" algn="ctr">
                      <a:solidFill>
                        <a:srgbClr val="152035"/>
                      </a:solidFill>
                      <a:prstDash val="solid"/>
                      <a:round/>
                      <a:headEnd type="none" w="med" len="med"/>
                      <a:tailEnd type="none" w="med" len="med"/>
                    </a:lnL>
                    <a:lnR w="12700" cap="flat" cmpd="sng" algn="ctr">
                      <a:solidFill>
                        <a:srgbClr val="152035"/>
                      </a:solidFill>
                      <a:prstDash val="solid"/>
                      <a:round/>
                      <a:headEnd type="none" w="med" len="med"/>
                      <a:tailEnd type="none" w="med" len="med"/>
                    </a:lnR>
                    <a:lnT w="0" cap="flat" cmpd="sng" algn="ctr">
                      <a:noFill/>
                    </a:lnT>
                    <a:lnB w="12700" cap="flat" cmpd="sng" algn="ctr">
                      <a:solidFill>
                        <a:srgbClr val="152035"/>
                      </a:solidFill>
                      <a:prstDash val="solid"/>
                      <a:round/>
                      <a:headEnd type="none" w="med" len="med"/>
                      <a:tailEnd type="none" w="med" len="med"/>
                    </a:lnB>
                    <a:solidFill>
                      <a:srgbClr val="15233F"/>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44506A"/>
                          </a:solidFill>
                          <a:latin typeface="IBM Plex Sans" pitchFamily="34" charset="0"/>
                          <a:ea typeface="IBM Plex Sans" pitchFamily="34" charset="-122"/>
                          <a:cs typeface="IBM Plex Sans" pitchFamily="34" charset="-120"/>
                        </a:rPr>
                        <a:t>Node.js + Express REST API with modular routes and controllers</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BCB"/>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5233F"/>
                          </a:solidFill>
                          <a:latin typeface="IBM Plex Sans" pitchFamily="34" charset="0"/>
                          <a:ea typeface="IBM Plex Sans" pitchFamily="34" charset="-122"/>
                          <a:cs typeface="IBM Plex Sans" pitchFamily="34" charset="-120"/>
                        </a:rPr>
                        <a:t>Done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520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44506A"/>
                          </a:solidFill>
                          <a:latin typeface="IBM Plex Sans" pitchFamily="34" charset="0"/>
                          <a:ea typeface="IBM Plex Sans" pitchFamily="34" charset="-122"/>
                          <a:cs typeface="IBM Plex Sans" pitchFamily="34" charset="-120"/>
                        </a:rPr>
                        <a:t>MongoDB with Mongoose: users, businesses, reviews (+ categories)</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5233F"/>
                          </a:solidFill>
                          <a:latin typeface="IBM Plex Sans" pitchFamily="34" charset="0"/>
                          <a:ea typeface="IBM Plex Sans" pitchFamily="34" charset="-122"/>
                          <a:cs typeface="IBM Plex Sans" pitchFamily="34" charset="-120"/>
                        </a:rPr>
                        <a:t>Done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44506A"/>
                          </a:solidFill>
                          <a:latin typeface="IBM Plex Sans" pitchFamily="34" charset="0"/>
                          <a:ea typeface="IBM Plex Sans" pitchFamily="34" charset="-122"/>
                          <a:cs typeface="IBM Plex Sans" pitchFamily="34" charset="-120"/>
                        </a:rPr>
                        <a:t>JWT authentication + Firebase Auth</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5233F"/>
                          </a:solidFill>
                          <a:latin typeface="IBM Plex Sans" pitchFamily="34" charset="0"/>
                          <a:ea typeface="IBM Plex Sans" pitchFamily="34" charset="-122"/>
                          <a:cs typeface="IBM Plex Sans" pitchFamily="34" charset="-120"/>
                        </a:rPr>
                        <a:t>Done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44506A"/>
                          </a:solidFill>
                          <a:latin typeface="IBM Plex Sans" pitchFamily="34" charset="0"/>
                          <a:ea typeface="IBM Plex Sans" pitchFamily="34" charset="-122"/>
                          <a:cs typeface="IBM Plex Sans" pitchFamily="34" charset="-120"/>
                        </a:rPr>
                        <a:t>Firebase Storage for business photos</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5233F"/>
                          </a:solidFill>
                          <a:latin typeface="IBM Plex Sans" pitchFamily="34" charset="0"/>
                          <a:ea typeface="IBM Plex Sans" pitchFamily="34" charset="-122"/>
                          <a:cs typeface="IBM Plex Sans" pitchFamily="34" charset="-120"/>
                        </a:rPr>
                        <a:t>Done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44506A"/>
                          </a:solidFill>
                          <a:latin typeface="IBM Plex Sans" pitchFamily="34" charset="0"/>
                          <a:ea typeface="IBM Plex Sans" pitchFamily="34" charset="-122"/>
                          <a:cs typeface="IBM Plex Sans" pitchFamily="34" charset="-120"/>
                        </a:rPr>
                        <a:t>Middleware: JWT, file upload, validation</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5233F"/>
                          </a:solidFill>
                          <a:latin typeface="IBM Plex Sans" pitchFamily="34" charset="0"/>
                          <a:ea typeface="IBM Plex Sans" pitchFamily="34" charset="-122"/>
                          <a:cs typeface="IBM Plex Sans" pitchFamily="34" charset="-120"/>
                        </a:rPr>
                        <a:t>Done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86011">
                <a:tc>
                  <a:txBody>
                    <a:bodyPr/>
                    <a:lstStyle/>
                    <a:p>
                      <a:pPr marL="0" indent="0">
                        <a:lnSpc>
                          <a:spcPts val="1960"/>
                        </a:lnSpc>
                        <a:buNone/>
                      </a:pPr>
                      <a:r>
                        <a:rPr lang="en-US" sz="1400" dirty="0">
                          <a:solidFill>
                            <a:srgbClr val="44506A"/>
                          </a:solidFill>
                          <a:latin typeface="IBM Plex Sans" pitchFamily="34" charset="0"/>
                          <a:ea typeface="IBM Plex Sans" pitchFamily="34" charset="-122"/>
                          <a:cs typeface="IBM Plex Sans" pitchFamily="34" charset="-120"/>
                        </a:rPr>
                        <a:t>Endpoints: auth, businesses, reviews, categories, search</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5233F"/>
                          </a:solidFill>
                          <a:latin typeface="IBM Plex Sans" pitchFamily="34" charset="0"/>
                          <a:ea typeface="IBM Plex Sans" pitchFamily="34" charset="-122"/>
                          <a:cs typeface="IBM Plex Sans" pitchFamily="34" charset="-120"/>
                        </a:rPr>
                        <a:t>Done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86011">
                <a:tc>
                  <a:txBody>
                    <a:bodyPr/>
                    <a:lstStyle/>
                    <a:p>
                      <a:pPr marL="0" indent="0">
                        <a:lnSpc>
                          <a:spcPts val="1960"/>
                        </a:lnSpc>
                        <a:buNone/>
                      </a:pPr>
                      <a:r>
                        <a:rPr lang="en-US" sz="1400" dirty="0">
                          <a:solidFill>
                            <a:srgbClr val="44506A"/>
                          </a:solidFill>
                          <a:latin typeface="IBM Plex Sans" pitchFamily="34" charset="0"/>
                          <a:ea typeface="IBM Plex Sans" pitchFamily="34" charset="-122"/>
                          <a:cs typeface="IBM Plex Sans" pitchFamily="34" charset="-120"/>
                        </a:rPr>
                        <a:t>Optional: "near me" search · owner response to reviews</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5233F"/>
                          </a:solidFill>
                          <a:latin typeface="IBM Plex Sans" pitchFamily="34" charset="0"/>
                          <a:ea typeface="IBM Plex Sans" pitchFamily="34" charset="-122"/>
                          <a:cs typeface="IBM Plex Sans" pitchFamily="34" charset="-120"/>
                        </a:rPr>
                        <a:t>Both done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r h="386011">
                <a:tc>
                  <a:txBody>
                    <a:bodyPr/>
                    <a:lstStyle/>
                    <a:p>
                      <a:pPr marL="0" indent="0">
                        <a:lnSpc>
                          <a:spcPts val="1960"/>
                        </a:lnSpc>
                        <a:buNone/>
                      </a:pPr>
                      <a:r>
                        <a:rPr lang="en-US" sz="1400" dirty="0">
                          <a:solidFill>
                            <a:srgbClr val="44506A"/>
                          </a:solidFill>
                          <a:latin typeface="IBM Plex Sans" pitchFamily="34" charset="0"/>
                          <a:ea typeface="IBM Plex Sans" pitchFamily="34" charset="-122"/>
                          <a:cs typeface="IBM Plex Sans" pitchFamily="34" charset="-120"/>
                        </a:rPr>
                        <a:t>Swagger + Postman docs · GitHub README</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5233F"/>
                          </a:solidFill>
                          <a:latin typeface="IBM Plex Sans" pitchFamily="34" charset="0"/>
                          <a:ea typeface="IBM Plex Sans" pitchFamily="34" charset="-122"/>
                          <a:cs typeface="IBM Plex Sans" pitchFamily="34" charset="-120"/>
                        </a:rPr>
                        <a:t>Done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8"/>
                  </a:ext>
                </a:extLst>
              </a:tr>
              <a:tr h="386011">
                <a:tc>
                  <a:txBody>
                    <a:bodyPr/>
                    <a:lstStyle/>
                    <a:p>
                      <a:pPr marL="0" indent="0">
                        <a:lnSpc>
                          <a:spcPts val="1960"/>
                        </a:lnSpc>
                        <a:buNone/>
                      </a:pPr>
                      <a:r>
                        <a:rPr lang="en-US" sz="1400" dirty="0">
                          <a:solidFill>
                            <a:srgbClr val="44506A"/>
                          </a:solidFill>
                          <a:latin typeface="IBM Plex Sans" pitchFamily="34" charset="0"/>
                          <a:ea typeface="IBM Plex Sans" pitchFamily="34" charset="-122"/>
                          <a:cs typeface="IBM Plex Sans" pitchFamily="34" charset="-120"/>
                        </a:rPr>
                        <a:t>Bonus: deployment on Render</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5233F"/>
                          </a:solidFill>
                          <a:latin typeface="IBM Plex Sans" pitchFamily="34" charset="0"/>
                          <a:ea typeface="IBM Plex Sans" pitchFamily="34" charset="-122"/>
                          <a:cs typeface="IBM Plex Sans" pitchFamily="34" charset="-120"/>
                        </a:rPr>
                        <a:t>Deployed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IBM Plex Sans" pitchFamily="34" charset="0"/>
                <a:ea typeface="IBM Plex Sans" pitchFamily="34" charset="-122"/>
                <a:cs typeface="IBM Plex Sans" pitchFamily="34" charset="-120"/>
              </a:rPr>
              <a:t>TownRate · Case Study 95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815975" y="847725"/>
            <a:ext cx="3092450" cy="4959350"/>
          </a:xfrm>
          <a:prstGeom prst="roundRect">
            <a:avLst>
              <a:gd name="adj" fmla="val 3183"/>
            </a:avLst>
          </a:prstGeom>
          <a:solidFill>
            <a:srgbClr val="FFFFFF"/>
          </a:solidFill>
          <a:ln w="6350">
            <a:solidFill>
              <a:srgbClr val="D9DEE7"/>
            </a:solidFill>
            <a:prstDash val="solid"/>
          </a:ln>
        </p:spPr>
        <p:txBody>
          <a:bodyPr/>
          <a:lstStyle/>
          <a:p>
            <a:endParaRPr lang="en-US"/>
          </a:p>
        </p:txBody>
      </p:sp>
      <p:pic>
        <p:nvPicPr>
          <p:cNvPr id="3" name="Image 0" descr="Architecture diagram: clients, Express layers, MongoDB Atlas and Firebase"/>
          <p:cNvPicPr>
            <a:picLocks noChangeAspect="1"/>
          </p:cNvPicPr>
          <p:nvPr/>
        </p:nvPicPr>
        <p:blipFill>
          <a:blip r:embed="rId3"/>
          <a:srcRect t="-16" b="-16"/>
          <a:stretch/>
        </p:blipFill>
        <p:spPr>
          <a:xfrm>
            <a:off x="869950" y="901700"/>
            <a:ext cx="2984500" cy="4851400"/>
          </a:xfrm>
          <a:prstGeom prst="rect">
            <a:avLst/>
          </a:prstGeom>
        </p:spPr>
      </p:pic>
      <p:sp>
        <p:nvSpPr>
          <p:cNvPr id="4" name="Text 1"/>
          <p:cNvSpPr/>
          <p:nvPr/>
        </p:nvSpPr>
        <p:spPr>
          <a:xfrm>
            <a:off x="4318000" y="1595239"/>
            <a:ext cx="727303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41C"/>
                </a:solidFill>
                <a:latin typeface="IBM Plex Sans" pitchFamily="34" charset="0"/>
                <a:ea typeface="IBM Plex Sans" pitchFamily="34" charset="-122"/>
                <a:cs typeface="IBM Plex Sans" pitchFamily="34" charset="-120"/>
              </a:rPr>
              <a:t>ARCHITECTURE</a:t>
            </a:r>
            <a:endParaRPr lang="en-US" sz="1200" dirty="0"/>
          </a:p>
        </p:txBody>
      </p:sp>
      <p:sp>
        <p:nvSpPr>
          <p:cNvPr id="5" name="Text 2"/>
          <p:cNvSpPr>
            <a:spLocks noGrp="1"/>
          </p:cNvSpPr>
          <p:nvPr>
            <p:ph type="title"/>
          </p:nvPr>
        </p:nvSpPr>
        <p:spPr>
          <a:xfrm>
            <a:off x="4318000" y="2011759"/>
            <a:ext cx="7273036"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33F"/>
                </a:solidFill>
                <a:latin typeface="Rubik" pitchFamily="34" charset="0"/>
                <a:ea typeface="Rubik" pitchFamily="34" charset="-122"/>
                <a:cs typeface="Rubik" pitchFamily="34" charset="-120"/>
              </a:rPr>
              <a:t>A request passes through five layers</a:t>
            </a:r>
            <a:endParaRPr lang="en-US" sz="3200" dirty="0"/>
          </a:p>
        </p:txBody>
      </p:sp>
      <p:sp>
        <p:nvSpPr>
          <p:cNvPr id="6" name="Text 3"/>
          <p:cNvSpPr/>
          <p:nvPr/>
        </p:nvSpPr>
        <p:spPr>
          <a:xfrm>
            <a:off x="4346823" y="3149600"/>
            <a:ext cx="7236593" cy="1447701"/>
          </a:xfrm>
          <a:prstGeom prst="rect">
            <a:avLst/>
          </a:prstGeom>
          <a:noFill/>
          <a:ln/>
        </p:spPr>
        <p:txBody>
          <a:bodyPr wrap="square" lIns="0" tIns="0" rIns="0" bIns="0" rtlCol="0" anchor="t">
            <a:normAutofit/>
          </a:bodyPr>
          <a:lstStyle/>
          <a:p>
            <a:pPr marL="225177" indent="-225177" algn="l">
              <a:lnSpc>
                <a:spcPts val="2240"/>
              </a:lnSpc>
              <a:buSzPct val="100000"/>
              <a:buFontTx/>
              <a:buAutoNum type="arabicPeriod"/>
            </a:pPr>
            <a:r>
              <a:rPr lang="en-US" sz="1600" b="1" dirty="0">
                <a:solidFill>
                  <a:srgbClr val="44506A"/>
                </a:solidFill>
                <a:latin typeface="IBM Plex Sans" pitchFamily="34" charset="0"/>
                <a:ea typeface="IBM Plex Sans" pitchFamily="34" charset="-122"/>
                <a:cs typeface="IBM Plex Sans" pitchFamily="34" charset="-120"/>
              </a:rPr>
              <a:t>Global middleware</a:t>
            </a:r>
            <a:r>
              <a:rPr lang="en-US" sz="1600" dirty="0">
                <a:solidFill>
                  <a:srgbClr val="44506A"/>
                </a:solidFill>
                <a:latin typeface="IBM Plex Sans" pitchFamily="34" charset="0"/>
                <a:ea typeface="IBM Plex Sans" pitchFamily="34" charset="-122"/>
                <a:cs typeface="IBM Plex Sans" pitchFamily="34" charset="-120"/>
              </a:rPr>
              <a:t> – helmet, cors, JSON parsing, logging</a:t>
            </a:r>
            <a:endParaRPr lang="en-US" sz="1600" dirty="0"/>
          </a:p>
          <a:p>
            <a:pPr marL="225177" indent="-225177" algn="l">
              <a:lnSpc>
                <a:spcPts val="2240"/>
              </a:lnSpc>
              <a:buSzPct val="100000"/>
              <a:buFontTx/>
              <a:buAutoNum type="arabicPeriod"/>
            </a:pPr>
            <a:r>
              <a:rPr lang="en-US" sz="1600" b="1" dirty="0">
                <a:solidFill>
                  <a:srgbClr val="44506A"/>
                </a:solidFill>
                <a:latin typeface="IBM Plex Sans" pitchFamily="34" charset="0"/>
                <a:ea typeface="IBM Plex Sans" pitchFamily="34" charset="-122"/>
                <a:cs typeface="IBM Plex Sans" pitchFamily="34" charset="-120"/>
              </a:rPr>
              <a:t>Routers</a:t>
            </a:r>
            <a:r>
              <a:rPr lang="en-US" sz="1600" dirty="0">
                <a:solidFill>
                  <a:srgbClr val="44506A"/>
                </a:solidFill>
                <a:latin typeface="IBM Plex Sans" pitchFamily="34" charset="0"/>
                <a:ea typeface="IBM Plex Sans" pitchFamily="34" charset="-122"/>
                <a:cs typeface="IBM Plex Sans" pitchFamily="34" charset="-120"/>
              </a:rPr>
              <a:t> – one per resource under /api</a:t>
            </a:r>
            <a:endParaRPr lang="en-US" sz="1600" dirty="0"/>
          </a:p>
          <a:p>
            <a:pPr marL="225177" indent="-225177" algn="l">
              <a:lnSpc>
                <a:spcPts val="2240"/>
              </a:lnSpc>
              <a:buSzPct val="100000"/>
              <a:buFontTx/>
              <a:buAutoNum type="arabicPeriod"/>
            </a:pPr>
            <a:r>
              <a:rPr lang="en-US" sz="1600" b="1" dirty="0">
                <a:solidFill>
                  <a:srgbClr val="44506A"/>
                </a:solidFill>
                <a:latin typeface="IBM Plex Sans" pitchFamily="34" charset="0"/>
                <a:ea typeface="IBM Plex Sans" pitchFamily="34" charset="-122"/>
                <a:cs typeface="IBM Plex Sans" pitchFamily="34" charset="-120"/>
              </a:rPr>
              <a:t>Route middleware</a:t>
            </a:r>
            <a:r>
              <a:rPr lang="en-US" sz="1600" dirty="0">
                <a:solidFill>
                  <a:srgbClr val="44506A"/>
                </a:solidFill>
                <a:latin typeface="IBM Plex Sans" pitchFamily="34" charset="0"/>
                <a:ea typeface="IBM Plex Sans" pitchFamily="34" charset="-122"/>
                <a:cs typeface="IBM Plex Sans" pitchFamily="34" charset="-120"/>
              </a:rPr>
              <a:t> – JWT → role → upload → validation</a:t>
            </a:r>
            <a:endParaRPr lang="en-US" sz="1600" dirty="0"/>
          </a:p>
          <a:p>
            <a:pPr marL="225177" indent="-225177" algn="l">
              <a:lnSpc>
                <a:spcPts val="2240"/>
              </a:lnSpc>
              <a:buSzPct val="100000"/>
              <a:buFontTx/>
              <a:buAutoNum type="arabicPeriod"/>
            </a:pPr>
            <a:r>
              <a:rPr lang="en-US" sz="1600" b="1" dirty="0">
                <a:solidFill>
                  <a:srgbClr val="44506A"/>
                </a:solidFill>
                <a:latin typeface="IBM Plex Sans" pitchFamily="34" charset="0"/>
                <a:ea typeface="IBM Plex Sans" pitchFamily="34" charset="-122"/>
                <a:cs typeface="IBM Plex Sans" pitchFamily="34" charset="-120"/>
              </a:rPr>
              <a:t>Controllers</a:t>
            </a:r>
            <a:r>
              <a:rPr lang="en-US" sz="1600" dirty="0">
                <a:solidFill>
                  <a:srgbClr val="44506A"/>
                </a:solidFill>
                <a:latin typeface="IBM Plex Sans" pitchFamily="34" charset="0"/>
                <a:ea typeface="IBM Plex Sans" pitchFamily="34" charset="-122"/>
                <a:cs typeface="IBM Plex Sans" pitchFamily="34" charset="-120"/>
              </a:rPr>
              <a:t> – the business rules</a:t>
            </a:r>
            <a:endParaRPr lang="en-US" sz="1600" dirty="0"/>
          </a:p>
          <a:p>
            <a:pPr marL="225177" indent="-225177" algn="l">
              <a:lnSpc>
                <a:spcPts val="2240"/>
              </a:lnSpc>
              <a:buSzPct val="100000"/>
              <a:buFontTx/>
              <a:buAutoNum type="arabicPeriod"/>
            </a:pPr>
            <a:r>
              <a:rPr lang="en-US" sz="1600" b="1" dirty="0">
                <a:solidFill>
                  <a:srgbClr val="44506A"/>
                </a:solidFill>
                <a:latin typeface="IBM Plex Sans" pitchFamily="34" charset="0"/>
                <a:ea typeface="IBM Plex Sans" pitchFamily="34" charset="-122"/>
                <a:cs typeface="IBM Plex Sans" pitchFamily="34" charset="-120"/>
              </a:rPr>
              <a:t>Models &amp; storage</a:t>
            </a:r>
            <a:r>
              <a:rPr lang="en-US" sz="1600" dirty="0">
                <a:solidFill>
                  <a:srgbClr val="44506A"/>
                </a:solidFill>
                <a:latin typeface="IBM Plex Sans" pitchFamily="34" charset="0"/>
                <a:ea typeface="IBM Plex Sans" pitchFamily="34" charset="-122"/>
                <a:cs typeface="IBM Plex Sans" pitchFamily="34" charset="-120"/>
              </a:rPr>
              <a:t> – MongoDB Atlas and Firebase</a:t>
            </a:r>
            <a:endParaRPr lang="en-US" sz="1600" dirty="0"/>
          </a:p>
        </p:txBody>
      </p:sp>
      <p:sp>
        <p:nvSpPr>
          <p:cNvPr id="7" name="Text 4"/>
          <p:cNvSpPr/>
          <p:nvPr/>
        </p:nvSpPr>
        <p:spPr>
          <a:xfrm>
            <a:off x="4318000" y="4775101"/>
            <a:ext cx="727303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5233F"/>
                </a:solidFill>
                <a:latin typeface="IBM Plex Sans" pitchFamily="34" charset="0"/>
                <a:ea typeface="IBM Plex Sans" pitchFamily="34" charset="-122"/>
                <a:cs typeface="IBM Plex Sans" pitchFamily="34" charset="-120"/>
              </a:rPr>
              <a:t>Every error ends in </a:t>
            </a:r>
            <a:r>
              <a:rPr lang="en-US" sz="1600" b="1" dirty="0">
                <a:solidFill>
                  <a:srgbClr val="15233F"/>
                </a:solidFill>
                <a:latin typeface="IBM Plex Sans" pitchFamily="34" charset="0"/>
                <a:ea typeface="IBM Plex Sans" pitchFamily="34" charset="-122"/>
                <a:cs typeface="IBM Plex Sans" pitchFamily="34" charset="-120"/>
              </a:rPr>
              <a:t>one handler</a:t>
            </a:r>
            <a:r>
              <a:rPr lang="en-US" sz="1600" dirty="0">
                <a:solidFill>
                  <a:srgbClr val="15233F"/>
                </a:solidFill>
                <a:latin typeface="IBM Plex Sans" pitchFamily="34" charset="0"/>
                <a:ea typeface="IBM Plex Sans" pitchFamily="34" charset="-122"/>
                <a:cs typeface="IBM Plex Sans" pitchFamily="34" charset="-120"/>
              </a:rPr>
              <a:t> → the same JSON shape everywhere.</a:t>
            </a:r>
            <a:endParaRPr lang="en-US" sz="16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IBM Plex Sans" pitchFamily="34" charset="0"/>
                <a:ea typeface="IBM Plex Sans" pitchFamily="34" charset="-122"/>
                <a:cs typeface="IBM Plex Sans" pitchFamily="34" charset="-120"/>
              </a:rPr>
              <a:t>TownRate · Case Study 95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1930499"/>
            <a:ext cx="550710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41C"/>
                </a:solidFill>
                <a:latin typeface="IBM Plex Sans" pitchFamily="34" charset="0"/>
                <a:ea typeface="IBM Plex Sans" pitchFamily="34" charset="-122"/>
                <a:cs typeface="IBM Plex Sans" pitchFamily="34" charset="-120"/>
              </a:rPr>
              <a:t>DATA MODEL</a:t>
            </a:r>
            <a:endParaRPr lang="en-US" sz="1200" dirty="0"/>
          </a:p>
        </p:txBody>
      </p:sp>
      <p:sp>
        <p:nvSpPr>
          <p:cNvPr id="3" name="Text 1"/>
          <p:cNvSpPr>
            <a:spLocks noGrp="1"/>
          </p:cNvSpPr>
          <p:nvPr>
            <p:ph type="title"/>
          </p:nvPr>
        </p:nvSpPr>
        <p:spPr>
          <a:xfrm>
            <a:off x="812800" y="2347020"/>
            <a:ext cx="5507101"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33F"/>
                </a:solidFill>
                <a:latin typeface="Rubik" pitchFamily="34" charset="0"/>
                <a:ea typeface="Rubik" pitchFamily="34" charset="-122"/>
                <a:cs typeface="Rubik" pitchFamily="34" charset="-120"/>
              </a:rPr>
              <a:t>Four collections</a:t>
            </a:r>
            <a:endParaRPr lang="en-US" sz="3200" dirty="0"/>
          </a:p>
        </p:txBody>
      </p:sp>
      <p:sp>
        <p:nvSpPr>
          <p:cNvPr id="4" name="Text 2"/>
          <p:cNvSpPr/>
          <p:nvPr/>
        </p:nvSpPr>
        <p:spPr>
          <a:xfrm>
            <a:off x="870458" y="3017540"/>
            <a:ext cx="5441823" cy="1732161"/>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b="1" dirty="0">
                <a:solidFill>
                  <a:srgbClr val="44506A"/>
                </a:solidFill>
                <a:latin typeface="IBM Plex Sans" pitchFamily="34" charset="0"/>
                <a:ea typeface="IBM Plex Sans" pitchFamily="34" charset="-122"/>
                <a:cs typeface="IBM Plex Sans" pitchFamily="34" charset="-120"/>
              </a:rPr>
              <a:t>Referenced:</a:t>
            </a:r>
            <a:r>
              <a:rPr lang="en-US" sz="1600" dirty="0">
                <a:solidFill>
                  <a:srgbClr val="44506A"/>
                </a:solidFill>
                <a:latin typeface="IBM Plex Sans" pitchFamily="34" charset="0"/>
                <a:ea typeface="IBM Plex Sans" pitchFamily="34" charset="-122"/>
                <a:cs typeface="IBM Plex Sans" pitchFamily="34" charset="-120"/>
              </a:rPr>
              <a:t> owner and category on a business; a review points to its business and user</a:t>
            </a:r>
            <a:endParaRPr lang="en-US" sz="1600" dirty="0"/>
          </a:p>
          <a:p>
            <a:pPr marL="196342" indent="-196342" algn="l">
              <a:lnSpc>
                <a:spcPts val="2240"/>
              </a:lnSpc>
              <a:buSzPct val="100000"/>
              <a:buChar char="•"/>
            </a:pPr>
            <a:r>
              <a:rPr lang="en-US" sz="1600" b="1" dirty="0">
                <a:solidFill>
                  <a:srgbClr val="44506A"/>
                </a:solidFill>
                <a:latin typeface="IBM Plex Sans" pitchFamily="34" charset="0"/>
                <a:ea typeface="IBM Plex Sans" pitchFamily="34" charset="-122"/>
                <a:cs typeface="IBM Plex Sans" pitchFamily="34" charset="-120"/>
              </a:rPr>
              <a:t>Embedded:</a:t>
            </a:r>
            <a:r>
              <a:rPr lang="en-US" sz="1600" dirty="0">
                <a:solidFill>
                  <a:srgbClr val="44506A"/>
                </a:solidFill>
                <a:latin typeface="IBM Plex Sans" pitchFamily="34" charset="0"/>
                <a:ea typeface="IBM Plex Sans" pitchFamily="34" charset="-122"/>
                <a:cs typeface="IBM Plex Sans" pitchFamily="34" charset="-120"/>
              </a:rPr>
              <a:t> photos live inside the business (at most 10)</a:t>
            </a:r>
            <a:endParaRPr lang="en-US" sz="1600" dirty="0"/>
          </a:p>
          <a:p>
            <a:pPr marL="196342" indent="-196342" algn="l">
              <a:lnSpc>
                <a:spcPts val="2240"/>
              </a:lnSpc>
              <a:buSzPct val="100000"/>
              <a:buChar char="•"/>
            </a:pPr>
            <a:r>
              <a:rPr lang="en-US" sz="1600" b="1" dirty="0">
                <a:solidFill>
                  <a:srgbClr val="44506A"/>
                </a:solidFill>
                <a:latin typeface="IBM Plex Sans" pitchFamily="34" charset="0"/>
                <a:ea typeface="IBM Plex Sans" pitchFamily="34" charset="-122"/>
                <a:cs typeface="IBM Plex Sans" pitchFamily="34" charset="-120"/>
              </a:rPr>
              <a:t>Cached:</a:t>
            </a:r>
            <a:r>
              <a:rPr lang="en-US" sz="1600" dirty="0">
                <a:solidFill>
                  <a:srgbClr val="44506A"/>
                </a:solidFill>
                <a:latin typeface="IBM Plex Sans" pitchFamily="34" charset="0"/>
                <a:ea typeface="IBM Plex Sans" pitchFamily="34" charset="-122"/>
                <a:cs typeface="IBM Plex Sans" pitchFamily="34" charset="-120"/>
              </a:rPr>
              <a:t> averageRating and reviewCount for fast sorting</a:t>
            </a:r>
            <a:endParaRPr lang="en-US" sz="1600" dirty="0"/>
          </a:p>
          <a:p>
            <a:pPr marL="196342" indent="-196342" algn="l">
              <a:lnSpc>
                <a:spcPts val="2240"/>
              </a:lnSpc>
              <a:buSzPct val="100000"/>
              <a:buChar char="•"/>
            </a:pPr>
            <a:r>
              <a:rPr lang="en-US" sz="1600" b="1" dirty="0">
                <a:solidFill>
                  <a:srgbClr val="44506A"/>
                </a:solidFill>
                <a:latin typeface="IBM Plex Sans" pitchFamily="34" charset="0"/>
                <a:ea typeface="IBM Plex Sans" pitchFamily="34" charset="-122"/>
                <a:cs typeface="IBM Plex Sans" pitchFamily="34" charset="-120"/>
              </a:rPr>
              <a:t>Unique index</a:t>
            </a:r>
            <a:r>
              <a:rPr lang="en-US" sz="1600" dirty="0">
                <a:solidFill>
                  <a:srgbClr val="44506A"/>
                </a:solidFill>
                <a:latin typeface="IBM Plex Sans" pitchFamily="34" charset="0"/>
                <a:ea typeface="IBM Plex Sans" pitchFamily="34" charset="-122"/>
                <a:cs typeface="IBM Plex Sans" pitchFamily="34" charset="-120"/>
              </a:rPr>
              <a:t> on (business, user): one review each, even under simultaneous requests</a:t>
            </a:r>
            <a:endParaRPr lang="en-US" sz="1600" dirty="0"/>
          </a:p>
        </p:txBody>
      </p:sp>
      <p:sp>
        <p:nvSpPr>
          <p:cNvPr id="5" name="Shape 3"/>
          <p:cNvSpPr/>
          <p:nvPr/>
        </p:nvSpPr>
        <p:spPr>
          <a:xfrm>
            <a:off x="6569075" y="847725"/>
            <a:ext cx="4806950" cy="4959350"/>
          </a:xfrm>
          <a:prstGeom prst="roundRect">
            <a:avLst>
              <a:gd name="adj" fmla="val 2048"/>
            </a:avLst>
          </a:prstGeom>
          <a:solidFill>
            <a:srgbClr val="FFFFFF"/>
          </a:solidFill>
          <a:ln w="6350">
            <a:solidFill>
              <a:srgbClr val="D9DEE7"/>
            </a:solidFill>
            <a:prstDash val="solid"/>
          </a:ln>
        </p:spPr>
        <p:txBody>
          <a:bodyPr/>
          <a:lstStyle/>
          <a:p>
            <a:endParaRPr lang="en-US"/>
          </a:p>
        </p:txBody>
      </p:sp>
      <p:pic>
        <p:nvPicPr>
          <p:cNvPr id="6" name="Image 0" descr="ER diagram of User, Category, Business, Review and embedded Photo"/>
          <p:cNvPicPr>
            <a:picLocks noChangeAspect="1"/>
          </p:cNvPicPr>
          <p:nvPr/>
        </p:nvPicPr>
        <p:blipFill>
          <a:blip r:embed="rId3"/>
          <a:srcRect l="-975" r="-975"/>
          <a:stretch/>
        </p:blipFill>
        <p:spPr>
          <a:xfrm>
            <a:off x="6623050" y="901700"/>
            <a:ext cx="4699000" cy="4851400"/>
          </a:xfrm>
          <a:prstGeom prst="rect">
            <a:avLst/>
          </a:prstGeom>
        </p:spPr>
      </p:pic>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IBM Plex Sans" pitchFamily="34" charset="0"/>
                <a:ea typeface="IBM Plex Sans" pitchFamily="34" charset="-122"/>
                <a:cs typeface="IBM Plex Sans" pitchFamily="34" charset="-120"/>
              </a:rPr>
              <a:t>TownRate · Case Study 95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1930499"/>
            <a:ext cx="609574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41C"/>
                </a:solidFill>
                <a:latin typeface="IBM Plex Sans" pitchFamily="34" charset="0"/>
                <a:ea typeface="IBM Plex Sans" pitchFamily="34" charset="-122"/>
                <a:cs typeface="IBM Plex Sans" pitchFamily="34" charset="-120"/>
              </a:rPr>
              <a:t>SECURITY</a:t>
            </a:r>
            <a:endParaRPr lang="en-US" sz="1200" dirty="0"/>
          </a:p>
        </p:txBody>
      </p:sp>
      <p:sp>
        <p:nvSpPr>
          <p:cNvPr id="3" name="Text 1"/>
          <p:cNvSpPr>
            <a:spLocks noGrp="1"/>
          </p:cNvSpPr>
          <p:nvPr>
            <p:ph type="title"/>
          </p:nvPr>
        </p:nvSpPr>
        <p:spPr>
          <a:xfrm>
            <a:off x="812800" y="2347020"/>
            <a:ext cx="6095746"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33F"/>
                </a:solidFill>
                <a:latin typeface="Rubik" pitchFamily="34" charset="0"/>
                <a:ea typeface="Rubik" pitchFamily="34" charset="-122"/>
                <a:cs typeface="Rubik" pitchFamily="34" charset="-120"/>
              </a:rPr>
              <a:t>Two ways in, one token</a:t>
            </a:r>
            <a:endParaRPr lang="en-US" sz="3200" dirty="0"/>
          </a:p>
        </p:txBody>
      </p:sp>
      <p:sp>
        <p:nvSpPr>
          <p:cNvPr id="4" name="Text 2"/>
          <p:cNvSpPr/>
          <p:nvPr/>
        </p:nvSpPr>
        <p:spPr>
          <a:xfrm>
            <a:off x="870458" y="3017540"/>
            <a:ext cx="6030468" cy="1732161"/>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44506A"/>
                </a:solidFill>
                <a:latin typeface="IBM Plex Sans" pitchFamily="34" charset="0"/>
                <a:ea typeface="IBM Plex Sans" pitchFamily="34" charset="-122"/>
                <a:cs typeface="IBM Plex Sans" pitchFamily="34" charset="-120"/>
              </a:rPr>
              <a:t>Passwords hashed with </a:t>
            </a:r>
            <a:r>
              <a:rPr lang="en-US" sz="1600" b="1" dirty="0">
                <a:solidFill>
                  <a:srgbClr val="44506A"/>
                </a:solidFill>
                <a:latin typeface="IBM Plex Sans" pitchFamily="34" charset="0"/>
                <a:ea typeface="IBM Plex Sans" pitchFamily="34" charset="-122"/>
                <a:cs typeface="IBM Plex Sans" pitchFamily="34" charset="-120"/>
              </a:rPr>
              <a:t>bcrypt</a:t>
            </a:r>
            <a:r>
              <a:rPr lang="en-US" sz="1600" dirty="0">
                <a:solidFill>
                  <a:srgbClr val="44506A"/>
                </a:solidFill>
                <a:latin typeface="IBM Plex Sans" pitchFamily="34" charset="0"/>
                <a:ea typeface="IBM Plex Sans" pitchFamily="34" charset="-122"/>
                <a:cs typeface="IBM Plex Sans" pitchFamily="34" charset="-120"/>
              </a:rPr>
              <a:t> (cost 10)</a:t>
            </a:r>
            <a:endParaRPr lang="en-US" sz="1600" dirty="0"/>
          </a:p>
          <a:p>
            <a:pPr marL="196342" indent="-196342" algn="l">
              <a:lnSpc>
                <a:spcPts val="2240"/>
              </a:lnSpc>
              <a:buSzPct val="100000"/>
              <a:buChar char="•"/>
            </a:pPr>
            <a:r>
              <a:rPr lang="en-US" sz="1600" b="1" dirty="0">
                <a:solidFill>
                  <a:srgbClr val="44506A"/>
                </a:solidFill>
                <a:latin typeface="IBM Plex Sans" pitchFamily="34" charset="0"/>
                <a:ea typeface="IBM Plex Sans" pitchFamily="34" charset="-122"/>
                <a:cs typeface="IBM Plex Sans" pitchFamily="34" charset="-120"/>
              </a:rPr>
              <a:t>JWT</a:t>
            </a:r>
            <a:r>
              <a:rPr lang="en-US" sz="1600" dirty="0">
                <a:solidFill>
                  <a:srgbClr val="44506A"/>
                </a:solidFill>
                <a:latin typeface="IBM Plex Sans" pitchFamily="34" charset="0"/>
                <a:ea typeface="IBM Plex Sans" pitchFamily="34" charset="-122"/>
                <a:cs typeface="IBM Plex Sans" pitchFamily="34" charset="-120"/>
              </a:rPr>
              <a:t> { sub, role } · 7-day expiry · Bearer header</a:t>
            </a:r>
            <a:endParaRPr lang="en-US" sz="1600" dirty="0"/>
          </a:p>
          <a:p>
            <a:pPr marL="196342" indent="-196342" algn="l">
              <a:lnSpc>
                <a:spcPts val="2240"/>
              </a:lnSpc>
              <a:buSzPct val="100000"/>
              <a:buChar char="•"/>
            </a:pPr>
            <a:r>
              <a:rPr lang="en-US" sz="1600" b="1" dirty="0">
                <a:solidFill>
                  <a:srgbClr val="44506A"/>
                </a:solidFill>
                <a:latin typeface="IBM Plex Sans" pitchFamily="34" charset="0"/>
                <a:ea typeface="IBM Plex Sans" pitchFamily="34" charset="-122"/>
                <a:cs typeface="IBM Plex Sans" pitchFamily="34" charset="-120"/>
              </a:rPr>
              <a:t>Firebase ID token</a:t>
            </a:r>
            <a:r>
              <a:rPr lang="en-US" sz="1600" dirty="0">
                <a:solidFill>
                  <a:srgbClr val="44506A"/>
                </a:solidFill>
                <a:latin typeface="IBM Plex Sans" pitchFamily="34" charset="0"/>
                <a:ea typeface="IBM Plex Sans" pitchFamily="34" charset="-122"/>
                <a:cs typeface="IBM Plex Sans" pitchFamily="34" charset="-120"/>
              </a:rPr>
              <a:t> verified once → the same JWT</a:t>
            </a:r>
            <a:endParaRPr lang="en-US" sz="1600" dirty="0"/>
          </a:p>
          <a:p>
            <a:pPr marL="196342" indent="-196342" algn="l">
              <a:lnSpc>
                <a:spcPts val="2240"/>
              </a:lnSpc>
              <a:buSzPct val="100000"/>
              <a:buChar char="•"/>
            </a:pPr>
            <a:r>
              <a:rPr lang="en-US" sz="1600" dirty="0">
                <a:solidFill>
                  <a:srgbClr val="44506A"/>
                </a:solidFill>
                <a:latin typeface="IBM Plex Sans" pitchFamily="34" charset="0"/>
                <a:ea typeface="IBM Plex Sans" pitchFamily="34" charset="-122"/>
                <a:cs typeface="IBM Plex Sans" pitchFamily="34" charset="-120"/>
              </a:rPr>
              <a:t>Roles: </a:t>
            </a:r>
            <a:r>
              <a:rPr lang="en-US" sz="1600" b="1" dirty="0">
                <a:solidFill>
                  <a:srgbClr val="44506A"/>
                </a:solidFill>
                <a:latin typeface="IBM Plex Sans" pitchFamily="34" charset="0"/>
                <a:ea typeface="IBM Plex Sans" pitchFamily="34" charset="-122"/>
                <a:cs typeface="IBM Plex Sans" pitchFamily="34" charset="-120"/>
              </a:rPr>
              <a:t>user · owner · admin</a:t>
            </a:r>
            <a:endParaRPr lang="en-US" sz="1600" dirty="0"/>
          </a:p>
          <a:p>
            <a:pPr marL="196342" indent="-196342" algn="l">
              <a:lnSpc>
                <a:spcPts val="2240"/>
              </a:lnSpc>
              <a:buSzPct val="100000"/>
              <a:buChar char="•"/>
            </a:pPr>
            <a:r>
              <a:rPr lang="en-US" sz="1600" b="1" dirty="0">
                <a:solidFill>
                  <a:srgbClr val="44506A"/>
                </a:solidFill>
                <a:latin typeface="IBM Plex Sans" pitchFamily="34" charset="0"/>
                <a:ea typeface="IBM Plex Sans" pitchFamily="34" charset="-122"/>
                <a:cs typeface="IBM Plex Sans" pitchFamily="34" charset="-120"/>
              </a:rPr>
              <a:t>Ownership checks</a:t>
            </a:r>
            <a:r>
              <a:rPr lang="en-US" sz="1600" dirty="0">
                <a:solidFill>
                  <a:srgbClr val="44506A"/>
                </a:solidFill>
                <a:latin typeface="IBM Plex Sans" pitchFamily="34" charset="0"/>
                <a:ea typeface="IBM Plex Sans" pitchFamily="34" charset="-122"/>
                <a:cs typeface="IBM Plex Sans" pitchFamily="34" charset="-120"/>
              </a:rPr>
              <a:t> – owners edit only their own business</a:t>
            </a:r>
            <a:endParaRPr lang="en-US" sz="1600" dirty="0"/>
          </a:p>
          <a:p>
            <a:pPr marL="196342" indent="-196342" algn="l">
              <a:lnSpc>
                <a:spcPts val="2240"/>
              </a:lnSpc>
              <a:buSzPct val="100000"/>
              <a:buChar char="•"/>
            </a:pPr>
            <a:r>
              <a:rPr lang="en-US" sz="1600" dirty="0">
                <a:solidFill>
                  <a:srgbClr val="44506A"/>
                </a:solidFill>
                <a:latin typeface="IBM Plex Sans" pitchFamily="34" charset="0"/>
                <a:ea typeface="IBM Plex Sans" pitchFamily="34" charset="-122"/>
                <a:cs typeface="IBM Plex Sans" pitchFamily="34" charset="-120"/>
              </a:rPr>
              <a:t>helmet, cors, secrets only in environment variables</a:t>
            </a:r>
            <a:endParaRPr lang="en-US" sz="1600" dirty="0"/>
          </a:p>
        </p:txBody>
      </p:sp>
      <p:sp>
        <p:nvSpPr>
          <p:cNvPr id="5" name="Shape 3"/>
          <p:cNvSpPr/>
          <p:nvPr/>
        </p:nvSpPr>
        <p:spPr>
          <a:xfrm>
            <a:off x="7140575" y="847725"/>
            <a:ext cx="4235450" cy="4959350"/>
          </a:xfrm>
          <a:prstGeom prst="roundRect">
            <a:avLst>
              <a:gd name="adj" fmla="val 2324"/>
            </a:avLst>
          </a:prstGeom>
          <a:solidFill>
            <a:srgbClr val="FFFFFF"/>
          </a:solidFill>
          <a:ln w="6350">
            <a:solidFill>
              <a:srgbClr val="D9DEE7"/>
            </a:solidFill>
            <a:prstDash val="solid"/>
          </a:ln>
        </p:spPr>
        <p:txBody>
          <a:bodyPr/>
          <a:lstStyle/>
          <a:p>
            <a:endParaRPr lang="en-US"/>
          </a:p>
        </p:txBody>
      </p:sp>
      <p:pic>
        <p:nvPicPr>
          <p:cNvPr id="6" name="Image 0" descr="Authentication flow: email/password login, Firebase token exchange, protected request checks"/>
          <p:cNvPicPr>
            <a:picLocks noChangeAspect="1"/>
          </p:cNvPicPr>
          <p:nvPr/>
        </p:nvPicPr>
        <p:blipFill>
          <a:blip r:embed="rId3"/>
          <a:srcRect l="-351" r="-351"/>
          <a:stretch/>
        </p:blipFill>
        <p:spPr>
          <a:xfrm>
            <a:off x="7194550" y="901700"/>
            <a:ext cx="4127500" cy="4851400"/>
          </a:xfrm>
          <a:prstGeom prst="rect">
            <a:avLst/>
          </a:prstGeom>
        </p:spPr>
      </p:pic>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IBM Plex Sans" pitchFamily="34" charset="0"/>
                <a:ea typeface="IBM Plex Sans" pitchFamily="34" charset="-122"/>
                <a:cs typeface="IBM Plex Sans" pitchFamily="34" charset="-120"/>
              </a:rPr>
              <a:t>TownRate · Case Study 95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41C"/>
                </a:solidFill>
                <a:latin typeface="IBM Plex Sans" pitchFamily="34" charset="0"/>
                <a:ea typeface="IBM Plex Sans" pitchFamily="34" charset="-122"/>
                <a:cs typeface="IBM Plex Sans" pitchFamily="34" charset="-120"/>
              </a:rPr>
              <a:t>FEATURES</a:t>
            </a:r>
            <a:endParaRPr lang="en-US" sz="1200" dirty="0"/>
          </a:p>
        </p:txBody>
      </p:sp>
      <p:sp>
        <p:nvSpPr>
          <p:cNvPr id="3" name="Text 1"/>
          <p:cNvSpPr>
            <a:spLocks noGrp="1"/>
          </p:cNvSpPr>
          <p:nvPr>
            <p:ph type="title"/>
          </p:nvPr>
        </p:nvSpPr>
        <p:spPr>
          <a:xfrm>
            <a:off x="812800" y="12801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33F"/>
                </a:solidFill>
                <a:latin typeface="Rubik" pitchFamily="34" charset="0"/>
                <a:ea typeface="Rubik" pitchFamily="34" charset="-122"/>
                <a:cs typeface="Rubik" pitchFamily="34" charset="-120"/>
              </a:rPr>
              <a:t>Search, near me and fair ratings</a:t>
            </a:r>
            <a:endParaRPr lang="en-US" sz="3200" dirty="0"/>
          </a:p>
        </p:txBody>
      </p:sp>
      <p:sp>
        <p:nvSpPr>
          <p:cNvPr id="4" name="Shape 2"/>
          <p:cNvSpPr/>
          <p:nvPr/>
        </p:nvSpPr>
        <p:spPr>
          <a:xfrm>
            <a:off x="815975" y="2004616"/>
            <a:ext cx="3380284" cy="2241451"/>
          </a:xfrm>
          <a:prstGeom prst="roundRect">
            <a:avLst>
              <a:gd name="adj" fmla="val 4391"/>
            </a:avLst>
          </a:prstGeom>
          <a:solidFill>
            <a:srgbClr val="FFFFFF"/>
          </a:solidFill>
          <a:ln w="6350">
            <a:solidFill>
              <a:srgbClr val="D9DEE7"/>
            </a:solidFill>
            <a:prstDash val="solid"/>
          </a:ln>
        </p:spPr>
        <p:txBody>
          <a:bodyPr/>
          <a:lstStyle/>
          <a:p>
            <a:endParaRPr lang="en-US"/>
          </a:p>
        </p:txBody>
      </p:sp>
      <p:sp>
        <p:nvSpPr>
          <p:cNvPr id="5" name="Text 3"/>
          <p:cNvSpPr/>
          <p:nvPr/>
        </p:nvSpPr>
        <p:spPr>
          <a:xfrm>
            <a:off x="1073150" y="2261791"/>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33F"/>
                </a:solidFill>
                <a:latin typeface="Rubik" pitchFamily="34" charset="0"/>
                <a:ea typeface="Rubik" pitchFamily="34" charset="-122"/>
                <a:cs typeface="Rubik" pitchFamily="34" charset="-120"/>
              </a:rPr>
              <a:t>Keyword search</a:t>
            </a:r>
            <a:endParaRPr lang="en-US" sz="2000" dirty="0"/>
          </a:p>
        </p:txBody>
      </p:sp>
      <p:sp>
        <p:nvSpPr>
          <p:cNvPr id="6" name="Text 4"/>
          <p:cNvSpPr/>
          <p:nvPr/>
        </p:nvSpPr>
        <p:spPr>
          <a:xfrm>
            <a:off x="1073150" y="2668191"/>
            <a:ext cx="2951912"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IBM Plex Sans" pitchFamily="34" charset="0"/>
                <a:ea typeface="IBM Plex Sans" pitchFamily="34" charset="-122"/>
                <a:cs typeface="IBM Plex Sans" pitchFamily="34" charset="-120"/>
              </a:rPr>
              <a:t>Escaped regex over name, description, tags, city and category name.</a:t>
            </a:r>
            <a:endParaRPr lang="en-US" sz="1600" dirty="0"/>
          </a:p>
        </p:txBody>
      </p:sp>
      <p:sp>
        <p:nvSpPr>
          <p:cNvPr id="7" name="Text 5"/>
          <p:cNvSpPr/>
          <p:nvPr/>
        </p:nvSpPr>
        <p:spPr>
          <a:xfrm>
            <a:off x="1073150" y="3623171"/>
            <a:ext cx="2865934" cy="365720"/>
          </a:xfrm>
          <a:prstGeom prst="roundRect">
            <a:avLst>
              <a:gd name="adj" fmla="val 13890"/>
            </a:avLst>
          </a:prstGeom>
          <a:solidFill>
            <a:srgbClr val="EAEEF4"/>
          </a:solidFill>
          <a:ln/>
        </p:spPr>
        <p:txBody>
          <a:bodyPr wrap="square" lIns="86721" tIns="61321" rIns="6839" bIns="35921" rtlCol="0" anchor="t">
            <a:normAutofit/>
          </a:bodyPr>
          <a:lstStyle/>
          <a:p>
            <a:pPr marL="0" indent="0" algn="l">
              <a:lnSpc>
                <a:spcPts val="1680"/>
              </a:lnSpc>
              <a:buNone/>
            </a:pPr>
            <a:r>
              <a:rPr lang="en-US" sz="1200" dirty="0">
                <a:solidFill>
                  <a:srgbClr val="15233F"/>
                </a:solidFill>
                <a:latin typeface="JetBrains Mono" pitchFamily="49" charset="0"/>
                <a:ea typeface="JetBrains Mono" pitchFamily="49" charset="-122"/>
                <a:cs typeface="JetBrains Mono" pitchFamily="49" charset="-120"/>
              </a:rPr>
              <a:t>/search?keyword=cafe</a:t>
            </a:r>
            <a:endParaRPr lang="en-US" sz="1200" dirty="0"/>
          </a:p>
        </p:txBody>
      </p:sp>
      <p:sp>
        <p:nvSpPr>
          <p:cNvPr id="8" name="Shape 6"/>
          <p:cNvSpPr/>
          <p:nvPr/>
        </p:nvSpPr>
        <p:spPr>
          <a:xfrm>
            <a:off x="4405809" y="2004616"/>
            <a:ext cx="3380333" cy="2241451"/>
          </a:xfrm>
          <a:prstGeom prst="roundRect">
            <a:avLst>
              <a:gd name="adj" fmla="val 4391"/>
            </a:avLst>
          </a:prstGeom>
          <a:solidFill>
            <a:srgbClr val="FFFFFF"/>
          </a:solidFill>
          <a:ln w="6350">
            <a:solidFill>
              <a:srgbClr val="D9DEE7"/>
            </a:solidFill>
            <a:prstDash val="solid"/>
          </a:ln>
        </p:spPr>
        <p:txBody>
          <a:bodyPr/>
          <a:lstStyle/>
          <a:p>
            <a:endParaRPr lang="en-US"/>
          </a:p>
        </p:txBody>
      </p:sp>
      <p:sp>
        <p:nvSpPr>
          <p:cNvPr id="9" name="Text 7"/>
          <p:cNvSpPr/>
          <p:nvPr/>
        </p:nvSpPr>
        <p:spPr>
          <a:xfrm>
            <a:off x="4662984" y="2261791"/>
            <a:ext cx="295196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33F"/>
                </a:solidFill>
                <a:latin typeface="Rubik" pitchFamily="34" charset="0"/>
                <a:ea typeface="Rubik" pitchFamily="34" charset="-122"/>
                <a:cs typeface="Rubik" pitchFamily="34" charset="-120"/>
              </a:rPr>
              <a:t>Near me</a:t>
            </a:r>
            <a:endParaRPr lang="en-US" sz="2000" dirty="0"/>
          </a:p>
        </p:txBody>
      </p:sp>
      <p:sp>
        <p:nvSpPr>
          <p:cNvPr id="10" name="Text 8"/>
          <p:cNvSpPr/>
          <p:nvPr/>
        </p:nvSpPr>
        <p:spPr>
          <a:xfrm>
            <a:off x="4662984" y="2668191"/>
            <a:ext cx="2951963"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IBM Plex Sans" pitchFamily="34" charset="0"/>
                <a:ea typeface="IBM Plex Sans" pitchFamily="34" charset="-122"/>
                <a:cs typeface="IBM Plex Sans" pitchFamily="34" charset="-120"/>
              </a:rPr>
              <a:t>GeoJSON points + 2dsphere index; $geoNear returns nearest first with distanceKm.</a:t>
            </a:r>
            <a:endParaRPr lang="en-US" sz="1600" dirty="0"/>
          </a:p>
        </p:txBody>
      </p:sp>
      <p:sp>
        <p:nvSpPr>
          <p:cNvPr id="11" name="Text 9"/>
          <p:cNvSpPr/>
          <p:nvPr/>
        </p:nvSpPr>
        <p:spPr>
          <a:xfrm>
            <a:off x="4662984" y="3623171"/>
            <a:ext cx="2865983" cy="365720"/>
          </a:xfrm>
          <a:prstGeom prst="roundRect">
            <a:avLst>
              <a:gd name="adj" fmla="val 13890"/>
            </a:avLst>
          </a:prstGeom>
          <a:solidFill>
            <a:srgbClr val="EAEEF4"/>
          </a:solidFill>
          <a:ln/>
        </p:spPr>
        <p:txBody>
          <a:bodyPr wrap="square" lIns="86721" tIns="61321" rIns="6838" bIns="35921" rtlCol="0" anchor="t">
            <a:normAutofit/>
          </a:bodyPr>
          <a:lstStyle/>
          <a:p>
            <a:pPr marL="0" indent="0" algn="l">
              <a:lnSpc>
                <a:spcPts val="1680"/>
              </a:lnSpc>
              <a:buNone/>
            </a:pPr>
            <a:r>
              <a:rPr lang="en-US" sz="1200" dirty="0">
                <a:solidFill>
                  <a:srgbClr val="15233F"/>
                </a:solidFill>
                <a:latin typeface="JetBrains Mono" pitchFamily="49" charset="0"/>
                <a:ea typeface="JetBrains Mono" pitchFamily="49" charset="-122"/>
                <a:cs typeface="JetBrains Mono" pitchFamily="49" charset="-120"/>
              </a:rPr>
              <a:t>/near?lat=…&amp;lng=…</a:t>
            </a:r>
            <a:endParaRPr lang="en-US" sz="1200" dirty="0"/>
          </a:p>
        </p:txBody>
      </p:sp>
      <p:sp>
        <p:nvSpPr>
          <p:cNvPr id="12" name="Shape 10"/>
          <p:cNvSpPr/>
          <p:nvPr/>
        </p:nvSpPr>
        <p:spPr>
          <a:xfrm>
            <a:off x="7995692" y="2004616"/>
            <a:ext cx="3380333" cy="2241451"/>
          </a:xfrm>
          <a:prstGeom prst="roundRect">
            <a:avLst>
              <a:gd name="adj" fmla="val 4391"/>
            </a:avLst>
          </a:prstGeom>
          <a:solidFill>
            <a:srgbClr val="FFFFFF"/>
          </a:solidFill>
          <a:ln w="6350">
            <a:solidFill>
              <a:srgbClr val="D9DEE7"/>
            </a:solidFill>
            <a:prstDash val="solid"/>
          </a:ln>
        </p:spPr>
        <p:txBody>
          <a:bodyPr/>
          <a:lstStyle/>
          <a:p>
            <a:endParaRPr lang="en-US"/>
          </a:p>
        </p:txBody>
      </p:sp>
      <p:sp>
        <p:nvSpPr>
          <p:cNvPr id="13" name="Text 11"/>
          <p:cNvSpPr/>
          <p:nvPr/>
        </p:nvSpPr>
        <p:spPr>
          <a:xfrm>
            <a:off x="8252867" y="2261791"/>
            <a:ext cx="295196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33F"/>
                </a:solidFill>
                <a:latin typeface="Rubik" pitchFamily="34" charset="0"/>
                <a:ea typeface="Rubik" pitchFamily="34" charset="-122"/>
                <a:cs typeface="Rubik" pitchFamily="34" charset="-120"/>
              </a:rPr>
              <a:t>Reviews</a:t>
            </a:r>
            <a:endParaRPr lang="en-US" sz="2000" dirty="0"/>
          </a:p>
        </p:txBody>
      </p:sp>
      <p:sp>
        <p:nvSpPr>
          <p:cNvPr id="14" name="Text 12"/>
          <p:cNvSpPr/>
          <p:nvPr/>
        </p:nvSpPr>
        <p:spPr>
          <a:xfrm>
            <a:off x="8252867" y="2668191"/>
            <a:ext cx="2951963"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IBM Plex Sans" pitchFamily="34" charset="0"/>
                <a:ea typeface="IBM Plex Sans" pitchFamily="34" charset="-122"/>
                <a:cs typeface="IBM Plex Sans" pitchFamily="34" charset="-120"/>
              </a:rPr>
              <a:t>One review per user; an aggregation recalculates the average; owners can reply.</a:t>
            </a:r>
            <a:endParaRPr lang="en-US" sz="1600" dirty="0"/>
          </a:p>
        </p:txBody>
      </p:sp>
      <p:sp>
        <p:nvSpPr>
          <p:cNvPr id="15" name="Text 13"/>
          <p:cNvSpPr/>
          <p:nvPr/>
        </p:nvSpPr>
        <p:spPr>
          <a:xfrm>
            <a:off x="8252867" y="3623171"/>
            <a:ext cx="2865983" cy="365720"/>
          </a:xfrm>
          <a:prstGeom prst="roundRect">
            <a:avLst>
              <a:gd name="adj" fmla="val 13890"/>
            </a:avLst>
          </a:prstGeom>
          <a:solidFill>
            <a:srgbClr val="EAEEF4"/>
          </a:solidFill>
          <a:ln/>
        </p:spPr>
        <p:txBody>
          <a:bodyPr wrap="square" lIns="86721" tIns="61321" rIns="6838" bIns="35921" rtlCol="0" anchor="t">
            <a:normAutofit/>
          </a:bodyPr>
          <a:lstStyle/>
          <a:p>
            <a:pPr marL="0" indent="0" algn="l">
              <a:lnSpc>
                <a:spcPts val="1680"/>
              </a:lnSpc>
              <a:buNone/>
            </a:pPr>
            <a:r>
              <a:rPr lang="en-US" sz="1200" dirty="0">
                <a:solidFill>
                  <a:srgbClr val="15233F"/>
                </a:solidFill>
                <a:latin typeface="JetBrains Mono" pitchFamily="49" charset="0"/>
                <a:ea typeface="JetBrains Mono" pitchFamily="49" charset="-122"/>
                <a:cs typeface="JetBrains Mono" pitchFamily="49" charset="-120"/>
              </a:rPr>
              <a:t>POST /api/reviews</a:t>
            </a:r>
            <a:endParaRPr lang="en-US" sz="12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IBM Plex Sans" pitchFamily="34" charset="0"/>
                <a:ea typeface="IBM Plex Sans" pitchFamily="34" charset="-122"/>
                <a:cs typeface="IBM Plex Sans" pitchFamily="34" charset="-120"/>
              </a:rPr>
              <a:t>TownRate · Case Study 95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EE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41C"/>
                </a:solidFill>
                <a:latin typeface="IBM Plex Sans" pitchFamily="34" charset="0"/>
                <a:ea typeface="IBM Plex Sans" pitchFamily="34" charset="-122"/>
                <a:cs typeface="IBM Plex Sans" pitchFamily="34" charset="-120"/>
              </a:rPr>
              <a:t>FIREBASE STORAGE</a:t>
            </a:r>
            <a:endParaRPr lang="en-US" sz="1200" dirty="0"/>
          </a:p>
        </p:txBody>
      </p:sp>
      <p:sp>
        <p:nvSpPr>
          <p:cNvPr id="3" name="Text 1"/>
          <p:cNvSpPr>
            <a:spLocks noGrp="1"/>
          </p:cNvSpPr>
          <p:nvPr>
            <p:ph type="title"/>
          </p:nvPr>
        </p:nvSpPr>
        <p:spPr>
          <a:xfrm>
            <a:off x="812800" y="12801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33F"/>
                </a:solidFill>
                <a:latin typeface="Rubik" pitchFamily="34" charset="0"/>
                <a:ea typeface="Rubik" pitchFamily="34" charset="-122"/>
                <a:cs typeface="Rubik" pitchFamily="34" charset="-120"/>
              </a:rPr>
              <a:t>Photos: validate first, roll back on failure</a:t>
            </a:r>
            <a:endParaRPr lang="en-US" sz="3200" dirty="0"/>
          </a:p>
        </p:txBody>
      </p:sp>
      <p:sp>
        <p:nvSpPr>
          <p:cNvPr id="4" name="Shape 2"/>
          <p:cNvSpPr/>
          <p:nvPr/>
        </p:nvSpPr>
        <p:spPr>
          <a:xfrm>
            <a:off x="815975" y="2129036"/>
            <a:ext cx="2292350" cy="1581051"/>
          </a:xfrm>
          <a:prstGeom prst="roundRect">
            <a:avLst>
              <a:gd name="adj" fmla="val 6225"/>
            </a:avLst>
          </a:prstGeom>
          <a:solidFill>
            <a:srgbClr val="FFFFFF"/>
          </a:solidFill>
          <a:ln w="6350">
            <a:solidFill>
              <a:srgbClr val="D9DEE7"/>
            </a:solidFill>
            <a:prstDash val="solid"/>
          </a:ln>
        </p:spPr>
        <p:txBody>
          <a:bodyPr/>
          <a:lstStyle/>
          <a:p>
            <a:endParaRPr lang="en-US"/>
          </a:p>
        </p:txBody>
      </p:sp>
      <p:sp>
        <p:nvSpPr>
          <p:cNvPr id="5" name="Text 3"/>
          <p:cNvSpPr/>
          <p:nvPr/>
        </p:nvSpPr>
        <p:spPr>
          <a:xfrm>
            <a:off x="1022350" y="233541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41C"/>
                </a:solidFill>
                <a:latin typeface="IBM Plex Sans" pitchFamily="34" charset="0"/>
                <a:ea typeface="IBM Plex Sans" pitchFamily="34" charset="-122"/>
                <a:cs typeface="IBM Plex Sans" pitchFamily="34" charset="-120"/>
              </a:rPr>
              <a:t>STEP 1</a:t>
            </a:r>
            <a:endParaRPr lang="en-US" sz="1200" dirty="0"/>
          </a:p>
        </p:txBody>
      </p:sp>
      <p:sp>
        <p:nvSpPr>
          <p:cNvPr id="6" name="Text 4"/>
          <p:cNvSpPr/>
          <p:nvPr/>
        </p:nvSpPr>
        <p:spPr>
          <a:xfrm>
            <a:off x="1022350" y="2624931"/>
            <a:ext cx="193598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33F"/>
                </a:solidFill>
                <a:latin typeface="Rubik" pitchFamily="34" charset="0"/>
                <a:ea typeface="Rubik" pitchFamily="34" charset="-122"/>
                <a:cs typeface="Rubik" pitchFamily="34" charset="-120"/>
              </a:rPr>
              <a:t>multer</a:t>
            </a:r>
            <a:endParaRPr lang="en-US" sz="2000" dirty="0"/>
          </a:p>
        </p:txBody>
      </p:sp>
      <p:sp>
        <p:nvSpPr>
          <p:cNvPr id="7" name="Text 5"/>
          <p:cNvSpPr/>
          <p:nvPr/>
        </p:nvSpPr>
        <p:spPr>
          <a:xfrm>
            <a:off x="1022350" y="3005931"/>
            <a:ext cx="1935988"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6A"/>
                </a:solidFill>
                <a:latin typeface="IBM Plex Sans" pitchFamily="34" charset="0"/>
                <a:ea typeface="IBM Plex Sans" pitchFamily="34" charset="-122"/>
                <a:cs typeface="IBM Plex Sans" pitchFamily="34" charset="-120"/>
              </a:rPr>
              <a:t>Images only, 5 MB each, 5 per request</a:t>
            </a:r>
            <a:endParaRPr lang="en-US" sz="1400" dirty="0"/>
          </a:p>
        </p:txBody>
      </p:sp>
      <p:pic>
        <p:nvPicPr>
          <p:cNvPr id="8" name="Image 0" descr="connector"/>
          <p:cNvPicPr>
            <a:picLocks noChangeAspect="1"/>
          </p:cNvPicPr>
          <p:nvPr/>
        </p:nvPicPr>
        <p:blipFill>
          <a:blip r:embed="rId3"/>
          <a:srcRect/>
          <a:stretch/>
        </p:blipFill>
        <p:spPr>
          <a:xfrm>
            <a:off x="3187700" y="2868761"/>
            <a:ext cx="304800" cy="101600"/>
          </a:xfrm>
          <a:prstGeom prst="rect">
            <a:avLst/>
          </a:prstGeom>
        </p:spPr>
      </p:pic>
      <p:sp>
        <p:nvSpPr>
          <p:cNvPr id="9" name="Shape 6"/>
          <p:cNvSpPr/>
          <p:nvPr/>
        </p:nvSpPr>
        <p:spPr>
          <a:xfrm>
            <a:off x="3571875" y="2004616"/>
            <a:ext cx="2292350" cy="1829941"/>
          </a:xfrm>
          <a:prstGeom prst="roundRect">
            <a:avLst>
              <a:gd name="adj" fmla="val 5379"/>
            </a:avLst>
          </a:prstGeom>
          <a:solidFill>
            <a:srgbClr val="FFFFFF"/>
          </a:solidFill>
          <a:ln w="6350">
            <a:solidFill>
              <a:srgbClr val="D9DEE7"/>
            </a:solidFill>
            <a:prstDash val="solid"/>
          </a:ln>
        </p:spPr>
        <p:txBody>
          <a:bodyPr/>
          <a:lstStyle/>
          <a:p>
            <a:endParaRPr lang="en-US"/>
          </a:p>
        </p:txBody>
      </p:sp>
      <p:sp>
        <p:nvSpPr>
          <p:cNvPr id="10" name="Text 7"/>
          <p:cNvSpPr/>
          <p:nvPr/>
        </p:nvSpPr>
        <p:spPr>
          <a:xfrm>
            <a:off x="3778250" y="22109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41C"/>
                </a:solidFill>
                <a:latin typeface="IBM Plex Sans" pitchFamily="34" charset="0"/>
                <a:ea typeface="IBM Plex Sans" pitchFamily="34" charset="-122"/>
                <a:cs typeface="IBM Plex Sans" pitchFamily="34" charset="-120"/>
              </a:rPr>
              <a:t>STEP 2</a:t>
            </a:r>
            <a:endParaRPr lang="en-US" sz="1200" dirty="0"/>
          </a:p>
        </p:txBody>
      </p:sp>
      <p:sp>
        <p:nvSpPr>
          <p:cNvPr id="11" name="Text 8"/>
          <p:cNvSpPr/>
          <p:nvPr/>
        </p:nvSpPr>
        <p:spPr>
          <a:xfrm>
            <a:off x="3778250" y="2500511"/>
            <a:ext cx="193598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33F"/>
                </a:solidFill>
                <a:latin typeface="Rubik" pitchFamily="34" charset="0"/>
                <a:ea typeface="Rubik" pitchFamily="34" charset="-122"/>
                <a:cs typeface="Rubik" pitchFamily="34" charset="-120"/>
              </a:rPr>
              <a:t>Validate</a:t>
            </a:r>
            <a:endParaRPr lang="en-US" sz="2000" dirty="0"/>
          </a:p>
        </p:txBody>
      </p:sp>
      <p:sp>
        <p:nvSpPr>
          <p:cNvPr id="12" name="Text 9"/>
          <p:cNvSpPr/>
          <p:nvPr/>
        </p:nvSpPr>
        <p:spPr>
          <a:xfrm>
            <a:off x="3778250" y="2881511"/>
            <a:ext cx="1935988"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6A"/>
                </a:solidFill>
                <a:latin typeface="IBM Plex Sans" pitchFamily="34" charset="0"/>
                <a:ea typeface="IBM Plex Sans" pitchFamily="34" charset="-122"/>
                <a:cs typeface="IBM Plex Sans" pitchFamily="34" charset="-120"/>
              </a:rPr>
              <a:t>The business is checked before any upload</a:t>
            </a:r>
            <a:endParaRPr lang="en-US" sz="1400" dirty="0"/>
          </a:p>
        </p:txBody>
      </p:sp>
      <p:pic>
        <p:nvPicPr>
          <p:cNvPr id="13" name="Image 1" descr="connector"/>
          <p:cNvPicPr>
            <a:picLocks noChangeAspect="1"/>
          </p:cNvPicPr>
          <p:nvPr/>
        </p:nvPicPr>
        <p:blipFill>
          <a:blip r:embed="rId3"/>
          <a:srcRect/>
          <a:stretch/>
        </p:blipFill>
        <p:spPr>
          <a:xfrm>
            <a:off x="5943600" y="2868761"/>
            <a:ext cx="304800" cy="101600"/>
          </a:xfrm>
          <a:prstGeom prst="rect">
            <a:avLst/>
          </a:prstGeom>
        </p:spPr>
      </p:pic>
      <p:sp>
        <p:nvSpPr>
          <p:cNvPr id="14" name="Shape 10"/>
          <p:cNvSpPr/>
          <p:nvPr/>
        </p:nvSpPr>
        <p:spPr>
          <a:xfrm>
            <a:off x="6327775" y="2129036"/>
            <a:ext cx="2292350" cy="1581051"/>
          </a:xfrm>
          <a:prstGeom prst="roundRect">
            <a:avLst>
              <a:gd name="adj" fmla="val 6225"/>
            </a:avLst>
          </a:prstGeom>
          <a:solidFill>
            <a:srgbClr val="FFFFFF"/>
          </a:solidFill>
          <a:ln w="6350">
            <a:solidFill>
              <a:srgbClr val="D9DEE7"/>
            </a:solidFill>
            <a:prstDash val="solid"/>
          </a:ln>
        </p:spPr>
        <p:txBody>
          <a:bodyPr/>
          <a:lstStyle/>
          <a:p>
            <a:endParaRPr lang="en-US"/>
          </a:p>
        </p:txBody>
      </p:sp>
      <p:sp>
        <p:nvSpPr>
          <p:cNvPr id="15" name="Text 11"/>
          <p:cNvSpPr/>
          <p:nvPr/>
        </p:nvSpPr>
        <p:spPr>
          <a:xfrm>
            <a:off x="6534150" y="233541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41C"/>
                </a:solidFill>
                <a:latin typeface="IBM Plex Sans" pitchFamily="34" charset="0"/>
                <a:ea typeface="IBM Plex Sans" pitchFamily="34" charset="-122"/>
                <a:cs typeface="IBM Plex Sans" pitchFamily="34" charset="-120"/>
              </a:rPr>
              <a:t>STEP 3</a:t>
            </a:r>
            <a:endParaRPr lang="en-US" sz="1200" dirty="0"/>
          </a:p>
        </p:txBody>
      </p:sp>
      <p:sp>
        <p:nvSpPr>
          <p:cNvPr id="16" name="Text 12"/>
          <p:cNvSpPr/>
          <p:nvPr/>
        </p:nvSpPr>
        <p:spPr>
          <a:xfrm>
            <a:off x="6534150" y="2624931"/>
            <a:ext cx="193598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33F"/>
                </a:solidFill>
                <a:latin typeface="Rubik" pitchFamily="34" charset="0"/>
                <a:ea typeface="Rubik" pitchFamily="34" charset="-122"/>
                <a:cs typeface="Rubik" pitchFamily="34" charset="-120"/>
              </a:rPr>
              <a:t>Upload</a:t>
            </a:r>
            <a:endParaRPr lang="en-US" sz="2000" dirty="0"/>
          </a:p>
        </p:txBody>
      </p:sp>
      <p:sp>
        <p:nvSpPr>
          <p:cNvPr id="17" name="Text 13"/>
          <p:cNvSpPr/>
          <p:nvPr/>
        </p:nvSpPr>
        <p:spPr>
          <a:xfrm>
            <a:off x="6534150" y="3005931"/>
            <a:ext cx="1935988"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6A"/>
                </a:solidFill>
                <a:latin typeface="IBM Plex Sans" pitchFamily="34" charset="0"/>
                <a:ea typeface="IBM Plex Sans" pitchFamily="34" charset="-122"/>
                <a:cs typeface="IBM Plex Sans" pitchFamily="34" charset="-120"/>
              </a:rPr>
              <a:t>Firebase Storage with a private download token</a:t>
            </a:r>
            <a:endParaRPr lang="en-US" sz="1400" dirty="0"/>
          </a:p>
        </p:txBody>
      </p:sp>
      <p:pic>
        <p:nvPicPr>
          <p:cNvPr id="18" name="Image 2" descr="connector"/>
          <p:cNvPicPr>
            <a:picLocks noChangeAspect="1"/>
          </p:cNvPicPr>
          <p:nvPr/>
        </p:nvPicPr>
        <p:blipFill>
          <a:blip r:embed="rId3"/>
          <a:srcRect/>
          <a:stretch/>
        </p:blipFill>
        <p:spPr>
          <a:xfrm>
            <a:off x="8699500" y="2868761"/>
            <a:ext cx="304800" cy="101600"/>
          </a:xfrm>
          <a:prstGeom prst="rect">
            <a:avLst/>
          </a:prstGeom>
        </p:spPr>
      </p:pic>
      <p:sp>
        <p:nvSpPr>
          <p:cNvPr id="19" name="Shape 14"/>
          <p:cNvSpPr/>
          <p:nvPr/>
        </p:nvSpPr>
        <p:spPr>
          <a:xfrm>
            <a:off x="9083675" y="2004616"/>
            <a:ext cx="2292350" cy="1829941"/>
          </a:xfrm>
          <a:prstGeom prst="roundRect">
            <a:avLst>
              <a:gd name="adj" fmla="val 5379"/>
            </a:avLst>
          </a:prstGeom>
          <a:solidFill>
            <a:srgbClr val="FFFFFF"/>
          </a:solidFill>
          <a:ln w="6350">
            <a:solidFill>
              <a:srgbClr val="D9DEE7"/>
            </a:solidFill>
            <a:prstDash val="solid"/>
          </a:ln>
        </p:spPr>
        <p:txBody>
          <a:bodyPr/>
          <a:lstStyle/>
          <a:p>
            <a:endParaRPr lang="en-US"/>
          </a:p>
        </p:txBody>
      </p:sp>
      <p:sp>
        <p:nvSpPr>
          <p:cNvPr id="20" name="Text 15"/>
          <p:cNvSpPr/>
          <p:nvPr/>
        </p:nvSpPr>
        <p:spPr>
          <a:xfrm>
            <a:off x="9290050" y="221099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41C"/>
                </a:solidFill>
                <a:latin typeface="IBM Plex Sans" pitchFamily="34" charset="0"/>
                <a:ea typeface="IBM Plex Sans" pitchFamily="34" charset="-122"/>
                <a:cs typeface="IBM Plex Sans" pitchFamily="34" charset="-120"/>
              </a:rPr>
              <a:t>STEP 4</a:t>
            </a:r>
            <a:endParaRPr lang="en-US" sz="1200" dirty="0"/>
          </a:p>
        </p:txBody>
      </p:sp>
      <p:sp>
        <p:nvSpPr>
          <p:cNvPr id="21" name="Text 16"/>
          <p:cNvSpPr/>
          <p:nvPr/>
        </p:nvSpPr>
        <p:spPr>
          <a:xfrm>
            <a:off x="9290050" y="2500511"/>
            <a:ext cx="193598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33F"/>
                </a:solidFill>
                <a:latin typeface="Rubik" pitchFamily="34" charset="0"/>
                <a:ea typeface="Rubik" pitchFamily="34" charset="-122"/>
                <a:cs typeface="Rubik" pitchFamily="34" charset="-120"/>
              </a:rPr>
              <a:t>Save</a:t>
            </a:r>
            <a:endParaRPr lang="en-US" sz="2000" dirty="0"/>
          </a:p>
        </p:txBody>
      </p:sp>
      <p:sp>
        <p:nvSpPr>
          <p:cNvPr id="22" name="Text 17"/>
          <p:cNvSpPr/>
          <p:nvPr/>
        </p:nvSpPr>
        <p:spPr>
          <a:xfrm>
            <a:off x="9290050" y="2881511"/>
            <a:ext cx="1935988"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6A"/>
                </a:solidFill>
                <a:latin typeface="IBM Plex Sans" pitchFamily="34" charset="0"/>
                <a:ea typeface="IBM Plex Sans" pitchFamily="34" charset="-122"/>
                <a:cs typeface="IBM Plex Sans" pitchFamily="34" charset="-120"/>
              </a:rPr>
              <a:t>If saving fails, the uploaded files are deleted</a:t>
            </a:r>
            <a:endParaRPr lang="en-US" sz="1400" dirty="0"/>
          </a:p>
        </p:txBody>
      </p:sp>
      <p:sp>
        <p:nvSpPr>
          <p:cNvPr id="23" name="Text 18"/>
          <p:cNvSpPr/>
          <p:nvPr/>
        </p:nvSpPr>
        <p:spPr>
          <a:xfrm>
            <a:off x="812800" y="409173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5233F"/>
                </a:solidFill>
                <a:latin typeface="IBM Plex Sans" pitchFamily="34" charset="0"/>
                <a:ea typeface="IBM Plex Sans" pitchFamily="34" charset="-122"/>
                <a:cs typeface="IBM Plex Sans" pitchFamily="34" charset="-120"/>
              </a:rPr>
              <a:t>Without Firebase credentials the API still runs – photos fall back to local disk and </a:t>
            </a:r>
            <a:r>
              <a:rPr lang="en-US" sz="1600" b="1" dirty="0">
                <a:solidFill>
                  <a:srgbClr val="15233F"/>
                </a:solidFill>
                <a:latin typeface="IBM Plex Sans" pitchFamily="34" charset="0"/>
                <a:ea typeface="IBM Plex Sans" pitchFamily="34" charset="-122"/>
                <a:cs typeface="IBM Plex Sans" pitchFamily="34" charset="-120"/>
              </a:rPr>
              <a:t>/api/health</a:t>
            </a:r>
            <a:r>
              <a:rPr lang="en-US" sz="1600" dirty="0">
                <a:solidFill>
                  <a:srgbClr val="15233F"/>
                </a:solidFill>
                <a:latin typeface="IBM Plex Sans" pitchFamily="34" charset="0"/>
                <a:ea typeface="IBM Plex Sans" pitchFamily="34" charset="-122"/>
                <a:cs typeface="IBM Plex Sans" pitchFamily="34" charset="-120"/>
              </a:rPr>
              <a:t> says so.</a:t>
            </a:r>
            <a:endParaRPr lang="en-US" sz="1600" dirty="0"/>
          </a:p>
        </p:txBody>
      </p:sp>
      <p:sp>
        <p:nvSpPr>
          <p:cNvPr id="24"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IBM Plex Sans" pitchFamily="34" charset="0"/>
                <a:ea typeface="IBM Plex Sans" pitchFamily="34" charset="-122"/>
                <a:cs typeface="IBM Plex Sans" pitchFamily="34" charset="-120"/>
              </a:rPr>
              <a:t>TownRate · Case Study 95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266"/>
                </a:solidFill>
                <a:latin typeface="IBM Plex Sans" pitchFamily="34" charset="0"/>
                <a:ea typeface="IBM Plex Sans" pitchFamily="34" charset="-122"/>
                <a:cs typeface="IBM Plex Sans" pitchFamily="34" charset="-120"/>
              </a:rPr>
              <a:t>DOCUMENTATION &amp; TESTING</a:t>
            </a:r>
            <a:endParaRPr lang="en-US" sz="1200" dirty="0"/>
          </a:p>
        </p:txBody>
      </p:sp>
      <p:sp>
        <p:nvSpPr>
          <p:cNvPr id="3" name="Text 1"/>
          <p:cNvSpPr>
            <a:spLocks noGrp="1"/>
          </p:cNvSpPr>
          <p:nvPr>
            <p:ph type="title"/>
          </p:nvPr>
        </p:nvSpPr>
        <p:spPr>
          <a:xfrm>
            <a:off x="812800" y="13309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6F4EF"/>
                </a:solidFill>
                <a:latin typeface="Rubik" pitchFamily="34" charset="0"/>
                <a:ea typeface="Rubik" pitchFamily="34" charset="-122"/>
                <a:cs typeface="Rubik" pitchFamily="34" charset="-120"/>
              </a:rPr>
              <a:t>How we know it works</a:t>
            </a:r>
            <a:endParaRPr lang="en-US" sz="3200" dirty="0"/>
          </a:p>
        </p:txBody>
      </p:sp>
      <p:sp>
        <p:nvSpPr>
          <p:cNvPr id="4" name="Shape 2"/>
          <p:cNvSpPr/>
          <p:nvPr/>
        </p:nvSpPr>
        <p:spPr>
          <a:xfrm>
            <a:off x="812800" y="2115741"/>
            <a:ext cx="3251200" cy="0"/>
          </a:xfrm>
          <a:prstGeom prst="line">
            <a:avLst/>
          </a:prstGeom>
          <a:noFill/>
          <a:ln w="25400">
            <a:solidFill>
              <a:srgbClr val="F2A266"/>
            </a:solidFill>
            <a:prstDash val="solid"/>
          </a:ln>
        </p:spPr>
        <p:txBody>
          <a:bodyPr/>
          <a:lstStyle/>
          <a:p>
            <a:endParaRPr lang="en-US"/>
          </a:p>
        </p:txBody>
      </p:sp>
      <p:sp>
        <p:nvSpPr>
          <p:cNvPr id="5" name="Text 3"/>
          <p:cNvSpPr/>
          <p:nvPr/>
        </p:nvSpPr>
        <p:spPr>
          <a:xfrm>
            <a:off x="812800" y="2331641"/>
            <a:ext cx="334873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6F4EF"/>
                </a:solidFill>
                <a:latin typeface="Rubik" pitchFamily="34" charset="0"/>
                <a:ea typeface="Rubik" pitchFamily="34" charset="-122"/>
                <a:cs typeface="Rubik" pitchFamily="34" charset="-120"/>
              </a:rPr>
              <a:t>41</a:t>
            </a:r>
            <a:endParaRPr lang="en-US" sz="4800" dirty="0"/>
          </a:p>
        </p:txBody>
      </p:sp>
      <p:sp>
        <p:nvSpPr>
          <p:cNvPr id="6" name="Text 4"/>
          <p:cNvSpPr/>
          <p:nvPr/>
        </p:nvSpPr>
        <p:spPr>
          <a:xfrm>
            <a:off x="812800" y="3042841"/>
            <a:ext cx="334873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CC6D8"/>
                </a:solidFill>
                <a:latin typeface="IBM Plex Sans" pitchFamily="34" charset="0"/>
                <a:ea typeface="IBM Plex Sans" pitchFamily="34" charset="-122"/>
                <a:cs typeface="IBM Plex Sans" pitchFamily="34" charset="-120"/>
              </a:rPr>
              <a:t>automated tests – unit + end-to-end with supertest</a:t>
            </a:r>
            <a:endParaRPr lang="en-US" sz="1600" dirty="0"/>
          </a:p>
        </p:txBody>
      </p:sp>
      <p:sp>
        <p:nvSpPr>
          <p:cNvPr id="7" name="Shape 5"/>
          <p:cNvSpPr/>
          <p:nvPr/>
        </p:nvSpPr>
        <p:spPr>
          <a:xfrm>
            <a:off x="4470400" y="2115741"/>
            <a:ext cx="3251200" cy="0"/>
          </a:xfrm>
          <a:prstGeom prst="line">
            <a:avLst/>
          </a:prstGeom>
          <a:noFill/>
          <a:ln w="25400">
            <a:solidFill>
              <a:srgbClr val="F2A266"/>
            </a:solidFill>
            <a:prstDash val="solid"/>
          </a:ln>
        </p:spPr>
        <p:txBody>
          <a:bodyPr/>
          <a:lstStyle/>
          <a:p>
            <a:endParaRPr lang="en-US"/>
          </a:p>
        </p:txBody>
      </p:sp>
      <p:sp>
        <p:nvSpPr>
          <p:cNvPr id="8" name="Text 6"/>
          <p:cNvSpPr/>
          <p:nvPr/>
        </p:nvSpPr>
        <p:spPr>
          <a:xfrm>
            <a:off x="4470400" y="2331641"/>
            <a:ext cx="334873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6F4EF"/>
                </a:solidFill>
                <a:latin typeface="Rubik" pitchFamily="34" charset="0"/>
                <a:ea typeface="Rubik" pitchFamily="34" charset="-122"/>
                <a:cs typeface="Rubik" pitchFamily="34" charset="-120"/>
              </a:rPr>
              <a:t>41</a:t>
            </a:r>
            <a:endParaRPr lang="en-US" sz="4800" dirty="0"/>
          </a:p>
        </p:txBody>
      </p:sp>
      <p:sp>
        <p:nvSpPr>
          <p:cNvPr id="9" name="Text 7"/>
          <p:cNvSpPr/>
          <p:nvPr/>
        </p:nvSpPr>
        <p:spPr>
          <a:xfrm>
            <a:off x="4470400" y="3042841"/>
            <a:ext cx="334873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CC6D8"/>
                </a:solidFill>
                <a:latin typeface="IBM Plex Sans" pitchFamily="34" charset="0"/>
                <a:ea typeface="IBM Plex Sans" pitchFamily="34" charset="-122"/>
                <a:cs typeface="IBM Plex Sans" pitchFamily="34" charset="-120"/>
              </a:rPr>
              <a:t>Postman requests, chained with saved tokens and ids</a:t>
            </a:r>
            <a:endParaRPr lang="en-US" sz="1600" dirty="0"/>
          </a:p>
        </p:txBody>
      </p:sp>
      <p:sp>
        <p:nvSpPr>
          <p:cNvPr id="10" name="Shape 8"/>
          <p:cNvSpPr/>
          <p:nvPr/>
        </p:nvSpPr>
        <p:spPr>
          <a:xfrm>
            <a:off x="8128000" y="2115741"/>
            <a:ext cx="3251200" cy="0"/>
          </a:xfrm>
          <a:prstGeom prst="line">
            <a:avLst/>
          </a:prstGeom>
          <a:noFill/>
          <a:ln w="25400">
            <a:solidFill>
              <a:srgbClr val="F2A266"/>
            </a:solidFill>
            <a:prstDash val="solid"/>
          </a:ln>
        </p:spPr>
        <p:txBody>
          <a:bodyPr/>
          <a:lstStyle/>
          <a:p>
            <a:endParaRPr lang="en-US"/>
          </a:p>
        </p:txBody>
      </p:sp>
      <p:sp>
        <p:nvSpPr>
          <p:cNvPr id="11" name="Text 9"/>
          <p:cNvSpPr/>
          <p:nvPr/>
        </p:nvSpPr>
        <p:spPr>
          <a:xfrm>
            <a:off x="8128000" y="2331641"/>
            <a:ext cx="334873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6F4EF"/>
                </a:solidFill>
                <a:latin typeface="Rubik" pitchFamily="34" charset="0"/>
                <a:ea typeface="Rubik" pitchFamily="34" charset="-122"/>
                <a:cs typeface="Rubik" pitchFamily="34" charset="-120"/>
              </a:rPr>
              <a:t>OpenAPI</a:t>
            </a:r>
            <a:endParaRPr lang="en-US" sz="4800" dirty="0"/>
          </a:p>
        </p:txBody>
      </p:sp>
      <p:sp>
        <p:nvSpPr>
          <p:cNvPr id="12" name="Text 10"/>
          <p:cNvSpPr/>
          <p:nvPr/>
        </p:nvSpPr>
        <p:spPr>
          <a:xfrm>
            <a:off x="8128000" y="3042841"/>
            <a:ext cx="334873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CC6D8"/>
                </a:solidFill>
                <a:latin typeface="IBM Plex Sans" pitchFamily="34" charset="0"/>
                <a:ea typeface="IBM Plex Sans" pitchFamily="34" charset="-122"/>
                <a:cs typeface="IBM Plex Sans" pitchFamily="34" charset="-120"/>
              </a:rPr>
              <a:t>Swagger UI served by the API at /api-docs</a:t>
            </a:r>
            <a:endParaRPr lang="en-US" sz="1600" dirty="0"/>
          </a:p>
        </p:txBody>
      </p:sp>
      <p:sp>
        <p:nvSpPr>
          <p:cNvPr id="13" name="Text 11"/>
          <p:cNvSpPr/>
          <p:nvPr/>
        </p:nvSpPr>
        <p:spPr>
          <a:xfrm>
            <a:off x="812800" y="3916561"/>
            <a:ext cx="1088339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DE3EE"/>
                </a:solidFill>
                <a:latin typeface="IBM Plex Sans" pitchFamily="34" charset="0"/>
                <a:ea typeface="IBM Plex Sans" pitchFamily="34" charset="-122"/>
                <a:cs typeface="IBM Plex Sans" pitchFamily="34" charset="-120"/>
              </a:rPr>
              <a:t>Tests cover login, roles, validation, uploads, search, geo search, rating updates, owner replies and errors – on a separate test database.</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6BC"/>
                </a:solidFill>
                <a:latin typeface="IBM Plex Sans" pitchFamily="34" charset="0"/>
                <a:ea typeface="IBM Plex Sans" pitchFamily="34" charset="-122"/>
                <a:cs typeface="IBM Plex Sans" pitchFamily="34" charset="-120"/>
              </a:rPr>
              <a:t>TownRate · Case Study 95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41C"/>
                </a:solidFill>
                <a:latin typeface="IBM Plex Sans" pitchFamily="34" charset="0"/>
                <a:ea typeface="IBM Plex Sans" pitchFamily="34" charset="-122"/>
                <a:cs typeface="IBM Plex Sans" pitchFamily="34" charset="-120"/>
              </a:rPr>
              <a:t>DEPLOYMENT</a:t>
            </a:r>
            <a:endParaRPr lang="en-US" sz="1200" dirty="0"/>
          </a:p>
        </p:txBody>
      </p:sp>
      <p:sp>
        <p:nvSpPr>
          <p:cNvPr id="3" name="Text 1"/>
          <p:cNvSpPr>
            <a:spLocks noGrp="1"/>
          </p:cNvSpPr>
          <p:nvPr>
            <p:ph type="title"/>
          </p:nvPr>
        </p:nvSpPr>
        <p:spPr>
          <a:xfrm>
            <a:off x="812800" y="12801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33F"/>
                </a:solidFill>
                <a:latin typeface="Rubik" pitchFamily="34" charset="0"/>
                <a:ea typeface="Rubik" pitchFamily="34" charset="-122"/>
                <a:cs typeface="Rubik" pitchFamily="34" charset="-120"/>
              </a:rPr>
              <a:t>Render + MongoDB Atlas</a:t>
            </a:r>
            <a:endParaRPr lang="en-US" sz="3200" dirty="0"/>
          </a:p>
        </p:txBody>
      </p:sp>
      <p:sp>
        <p:nvSpPr>
          <p:cNvPr id="4" name="Text 2"/>
          <p:cNvSpPr/>
          <p:nvPr/>
        </p:nvSpPr>
        <p:spPr>
          <a:xfrm>
            <a:off x="870458" y="2336701"/>
            <a:ext cx="4905502" cy="1447701"/>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b="1" dirty="0">
                <a:solidFill>
                  <a:srgbClr val="44506A"/>
                </a:solidFill>
                <a:latin typeface="IBM Plex Sans" pitchFamily="34" charset="0"/>
                <a:ea typeface="IBM Plex Sans" pitchFamily="34" charset="-122"/>
                <a:cs typeface="IBM Plex Sans" pitchFamily="34" charset="-120"/>
              </a:rPr>
              <a:t>render.yaml</a:t>
            </a:r>
            <a:r>
              <a:rPr lang="en-US" sz="1600" dirty="0">
                <a:solidFill>
                  <a:srgbClr val="44506A"/>
                </a:solidFill>
                <a:latin typeface="IBM Plex Sans" pitchFamily="34" charset="0"/>
                <a:ea typeface="IBM Plex Sans" pitchFamily="34" charset="-122"/>
                <a:cs typeface="IBM Plex Sans" pitchFamily="34" charset="-120"/>
              </a:rPr>
              <a:t> Blueprint: npm ci → npm start</a:t>
            </a:r>
            <a:endParaRPr lang="en-US" sz="1600" dirty="0"/>
          </a:p>
          <a:p>
            <a:pPr marL="196342" indent="-196342" algn="l">
              <a:lnSpc>
                <a:spcPts val="2240"/>
              </a:lnSpc>
              <a:buSzPct val="100000"/>
              <a:buChar char="•"/>
            </a:pPr>
            <a:r>
              <a:rPr lang="en-US" sz="1600" dirty="0">
                <a:solidFill>
                  <a:srgbClr val="44506A"/>
                </a:solidFill>
                <a:latin typeface="IBM Plex Sans" pitchFamily="34" charset="0"/>
                <a:ea typeface="IBM Plex Sans" pitchFamily="34" charset="-122"/>
                <a:cs typeface="IBM Plex Sans" pitchFamily="34" charset="-120"/>
              </a:rPr>
              <a:t>Health check on </a:t>
            </a:r>
            <a:r>
              <a:rPr lang="en-US" sz="1600" b="1" dirty="0">
                <a:solidFill>
                  <a:srgbClr val="44506A"/>
                </a:solidFill>
                <a:latin typeface="IBM Plex Sans" pitchFamily="34" charset="0"/>
                <a:ea typeface="IBM Plex Sans" pitchFamily="34" charset="-122"/>
                <a:cs typeface="IBM Plex Sans" pitchFamily="34" charset="-120"/>
              </a:rPr>
              <a:t>/api/health</a:t>
            </a:r>
            <a:endParaRPr lang="en-US" sz="1600" dirty="0"/>
          </a:p>
          <a:p>
            <a:pPr marL="196342" indent="-196342" algn="l">
              <a:lnSpc>
                <a:spcPts val="2240"/>
              </a:lnSpc>
              <a:buSzPct val="100000"/>
              <a:buChar char="•"/>
            </a:pPr>
            <a:r>
              <a:rPr lang="en-US" sz="1600" dirty="0">
                <a:solidFill>
                  <a:srgbClr val="44506A"/>
                </a:solidFill>
                <a:latin typeface="IBM Plex Sans" pitchFamily="34" charset="0"/>
                <a:ea typeface="IBM Plex Sans" pitchFamily="34" charset="-122"/>
                <a:cs typeface="IBM Plex Sans" pitchFamily="34" charset="-120"/>
              </a:rPr>
              <a:t>Secrets in Render environment variables, never in Git</a:t>
            </a:r>
            <a:endParaRPr lang="en-US" sz="1600" dirty="0"/>
          </a:p>
          <a:p>
            <a:pPr marL="196342" indent="-196342" algn="l">
              <a:lnSpc>
                <a:spcPts val="2240"/>
              </a:lnSpc>
              <a:buSzPct val="100000"/>
              <a:buChar char="•"/>
            </a:pPr>
            <a:r>
              <a:rPr lang="en-US" sz="1600" dirty="0">
                <a:solidFill>
                  <a:srgbClr val="44506A"/>
                </a:solidFill>
                <a:latin typeface="IBM Plex Sans" pitchFamily="34" charset="0"/>
                <a:ea typeface="IBM Plex Sans" pitchFamily="34" charset="-122"/>
                <a:cs typeface="IBM Plex Sans" pitchFamily="34" charset="-120"/>
              </a:rPr>
              <a:t>Database: MongoDB Atlas free cluster</a:t>
            </a:r>
            <a:endParaRPr lang="en-US" sz="1600" dirty="0"/>
          </a:p>
        </p:txBody>
      </p:sp>
      <p:sp>
        <p:nvSpPr>
          <p:cNvPr id="5" name="Text 3"/>
          <p:cNvSpPr/>
          <p:nvPr/>
        </p:nvSpPr>
        <p:spPr>
          <a:xfrm>
            <a:off x="812800" y="3911402"/>
            <a:ext cx="49707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5233F"/>
                </a:solidFill>
                <a:latin typeface="IBM Plex Sans" pitchFamily="34" charset="0"/>
                <a:ea typeface="IBM Plex Sans" pitchFamily="34" charset="-122"/>
                <a:cs typeface="IBM Plex Sans" pitchFamily="34" charset="-120"/>
              </a:rPr>
              <a:t>Live:</a:t>
            </a:r>
            <a:r>
              <a:rPr lang="en-US" sz="1600" dirty="0">
                <a:solidFill>
                  <a:srgbClr val="15233F"/>
                </a:solidFill>
                <a:latin typeface="IBM Plex Sans" pitchFamily="34" charset="0"/>
                <a:ea typeface="IBM Plex Sans" pitchFamily="34" charset="-122"/>
                <a:cs typeface="IBM Plex Sans" pitchFamily="34" charset="-120"/>
              </a:rPr>
              <a:t> [Render URL]</a:t>
            </a:r>
            <a:endParaRPr lang="en-US" sz="1600" dirty="0"/>
          </a:p>
        </p:txBody>
      </p:sp>
      <p:sp>
        <p:nvSpPr>
          <p:cNvPr id="6" name="Shape 4"/>
          <p:cNvSpPr/>
          <p:nvPr/>
        </p:nvSpPr>
        <p:spPr>
          <a:xfrm>
            <a:off x="6045200" y="2001441"/>
            <a:ext cx="5334000" cy="2529681"/>
          </a:xfrm>
          <a:prstGeom prst="roundRect">
            <a:avLst>
              <a:gd name="adj" fmla="val 4016"/>
            </a:avLst>
          </a:prstGeom>
          <a:solidFill>
            <a:srgbClr val="15233F"/>
          </a:solidFill>
          <a:ln/>
        </p:spPr>
        <p:txBody>
          <a:bodyPr/>
          <a:lstStyle/>
          <a:p>
            <a:endParaRPr lang="en-US"/>
          </a:p>
        </p:txBody>
      </p:sp>
      <p:sp>
        <p:nvSpPr>
          <p:cNvPr id="7" name="Text 5"/>
          <p:cNvSpPr/>
          <p:nvPr/>
        </p:nvSpPr>
        <p:spPr>
          <a:xfrm>
            <a:off x="6299200" y="2255441"/>
            <a:ext cx="4970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CC6D8"/>
                </a:solidFill>
                <a:latin typeface="IBM Plex Sans" pitchFamily="34" charset="0"/>
                <a:ea typeface="IBM Plex Sans" pitchFamily="34" charset="-122"/>
                <a:cs typeface="IBM Plex Sans" pitchFamily="34" charset="-120"/>
              </a:rPr>
              <a:t>GET /api/health – expected response</a:t>
            </a:r>
            <a:endParaRPr lang="en-US" sz="1200" dirty="0"/>
          </a:p>
        </p:txBody>
      </p:sp>
      <p:sp>
        <p:nvSpPr>
          <p:cNvPr id="8" name="Text 6"/>
          <p:cNvSpPr/>
          <p:nvPr/>
        </p:nvSpPr>
        <p:spPr>
          <a:xfrm>
            <a:off x="6299200" y="2570361"/>
            <a:ext cx="4970780" cy="1732161"/>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F6F4EF"/>
                </a:solidFill>
                <a:latin typeface="JetBrains Mono" pitchFamily="49" charset="0"/>
                <a:ea typeface="JetBrains Mono" pitchFamily="49" charset="-122"/>
                <a:cs typeface="JetBrains Mono" pitchFamily="49" charset="-120"/>
              </a:rPr>
              <a:t>{</a:t>
            </a:r>
            <a:endParaRPr lang="en-US" sz="1400" dirty="0"/>
          </a:p>
          <a:p>
            <a:pPr marL="0" indent="0" algn="l">
              <a:lnSpc>
                <a:spcPts val="2240"/>
              </a:lnSpc>
              <a:buNone/>
            </a:pPr>
            <a:r>
              <a:rPr lang="en-US" sz="1400" dirty="0">
                <a:solidFill>
                  <a:srgbClr val="F6F4EF"/>
                </a:solidFill>
                <a:latin typeface="JetBrains Mono" pitchFamily="49" charset="0"/>
                <a:ea typeface="JetBrains Mono" pitchFamily="49" charset="-122"/>
                <a:cs typeface="JetBrains Mono" pitchFamily="49" charset="-120"/>
              </a:rPr>
              <a:t>  "status": "ok",</a:t>
            </a:r>
            <a:endParaRPr lang="en-US" sz="1400" dirty="0"/>
          </a:p>
          <a:p>
            <a:pPr marL="0" indent="0" algn="l">
              <a:lnSpc>
                <a:spcPts val="2240"/>
              </a:lnSpc>
              <a:buNone/>
            </a:pPr>
            <a:r>
              <a:rPr lang="en-US" sz="1400" dirty="0">
                <a:solidFill>
                  <a:srgbClr val="F6F4EF"/>
                </a:solidFill>
                <a:latin typeface="JetBrains Mono" pitchFamily="49" charset="0"/>
                <a:ea typeface="JetBrains Mono" pitchFamily="49" charset="-122"/>
                <a:cs typeface="JetBrains Mono" pitchFamily="49" charset="-120"/>
              </a:rPr>
              <a:t>  "database": "connected",</a:t>
            </a:r>
            <a:endParaRPr lang="en-US" sz="1400" dirty="0"/>
          </a:p>
          <a:p>
            <a:pPr marL="0" indent="0" algn="l">
              <a:lnSpc>
                <a:spcPts val="2240"/>
              </a:lnSpc>
              <a:buNone/>
            </a:pPr>
            <a:r>
              <a:rPr lang="en-US" sz="1400" dirty="0">
                <a:solidFill>
                  <a:srgbClr val="F6F4EF"/>
                </a:solidFill>
                <a:latin typeface="JetBrains Mono" pitchFamily="49" charset="0"/>
                <a:ea typeface="JetBrains Mono" pitchFamily="49" charset="-122"/>
                <a:cs typeface="JetBrains Mono" pitchFamily="49" charset="-120"/>
              </a:rPr>
              <a:t>  "firebaseAuth": "enabled",</a:t>
            </a:r>
            <a:endParaRPr lang="en-US" sz="1400" dirty="0"/>
          </a:p>
          <a:p>
            <a:pPr marL="0" indent="0" algn="l">
              <a:lnSpc>
                <a:spcPts val="2240"/>
              </a:lnSpc>
              <a:buNone/>
            </a:pPr>
            <a:r>
              <a:rPr lang="en-US" sz="1400" dirty="0">
                <a:solidFill>
                  <a:srgbClr val="F6F4EF"/>
                </a:solidFill>
                <a:latin typeface="JetBrains Mono" pitchFamily="49" charset="0"/>
                <a:ea typeface="JetBrains Mono" pitchFamily="49" charset="-122"/>
                <a:cs typeface="JetBrains Mono" pitchFamily="49" charset="-120"/>
              </a:rPr>
              <a:t>  "photoStorage": "firebase"</a:t>
            </a:r>
            <a:endParaRPr lang="en-US" sz="1400" dirty="0"/>
          </a:p>
          <a:p>
            <a:pPr marL="0" indent="0" algn="l">
              <a:lnSpc>
                <a:spcPts val="2240"/>
              </a:lnSpc>
              <a:buNone/>
            </a:pPr>
            <a:r>
              <a:rPr lang="en-US" sz="1400" dirty="0">
                <a:solidFill>
                  <a:srgbClr val="F6F4EF"/>
                </a:solidFill>
                <a:latin typeface="JetBrains Mono" pitchFamily="49" charset="0"/>
                <a:ea typeface="JetBrains Mono" pitchFamily="49" charset="-122"/>
                <a:cs typeface="JetBrains Mono" pitchFamily="49" charset="-120"/>
              </a:rPr>
              <a:t>}</a:t>
            </a:r>
            <a:endParaRPr lang="en-US" sz="14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90"/>
                </a:solidFill>
                <a:latin typeface="IBM Plex Sans" pitchFamily="34" charset="0"/>
                <a:ea typeface="IBM Plex Sans" pitchFamily="34" charset="-122"/>
                <a:cs typeface="IBM Plex Sans" pitchFamily="34" charset="-120"/>
              </a:rPr>
              <a:t>TownRate · Case Study 95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266"/>
                </a:solidFill>
                <a:latin typeface="IBM Plex Sans" pitchFamily="34" charset="0"/>
                <a:ea typeface="IBM Plex Sans" pitchFamily="34" charset="-122"/>
                <a:cs typeface="IBM Plex Sans" pitchFamily="34" charset="-120"/>
              </a:rPr>
              <a:t>CONCLUSION</a:t>
            </a:r>
            <a:endParaRPr lang="en-US" sz="1200" dirty="0"/>
          </a:p>
        </p:txBody>
      </p:sp>
      <p:sp>
        <p:nvSpPr>
          <p:cNvPr id="3" name="Text 1"/>
          <p:cNvSpPr>
            <a:spLocks noGrp="1"/>
          </p:cNvSpPr>
          <p:nvPr>
            <p:ph type="title"/>
          </p:nvPr>
        </p:nvSpPr>
        <p:spPr>
          <a:xfrm>
            <a:off x="812800" y="12801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6F4EF"/>
                </a:solidFill>
                <a:latin typeface="Rubik" pitchFamily="34" charset="0"/>
                <a:ea typeface="Rubik" pitchFamily="34" charset="-122"/>
                <a:cs typeface="Rubik" pitchFamily="34" charset="-120"/>
              </a:rPr>
              <a:t>All requirements met, both optional features built</a:t>
            </a:r>
            <a:endParaRPr lang="en-US" sz="3200" dirty="0"/>
          </a:p>
        </p:txBody>
      </p:sp>
      <p:sp>
        <p:nvSpPr>
          <p:cNvPr id="4" name="Text 2"/>
          <p:cNvSpPr/>
          <p:nvPr/>
        </p:nvSpPr>
        <p:spPr>
          <a:xfrm>
            <a:off x="812800" y="2001441"/>
            <a:ext cx="52324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2A266"/>
                </a:solidFill>
                <a:latin typeface="Rubik" pitchFamily="34" charset="0"/>
                <a:ea typeface="Rubik" pitchFamily="34" charset="-122"/>
                <a:cs typeface="Rubik" pitchFamily="34" charset="-120"/>
              </a:rPr>
              <a:t>Delivered</a:t>
            </a:r>
            <a:endParaRPr lang="en-US" sz="2000" dirty="0"/>
          </a:p>
        </p:txBody>
      </p:sp>
      <p:sp>
        <p:nvSpPr>
          <p:cNvPr id="5" name="Text 3"/>
          <p:cNvSpPr/>
          <p:nvPr/>
        </p:nvSpPr>
        <p:spPr>
          <a:xfrm>
            <a:off x="870458" y="2407841"/>
            <a:ext cx="5167122" cy="1163241"/>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REST API with full CRUD and roles</a:t>
            </a:r>
            <a:endParaRPr lang="en-US" sz="1600" dirty="0"/>
          </a:p>
          <a:p>
            <a:pPr marL="196342" indent="-196342" algn="l">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Search, near me, ratings, owner replies</a:t>
            </a:r>
            <a:endParaRPr lang="en-US" sz="1600" dirty="0"/>
          </a:p>
          <a:p>
            <a:pPr marL="196342" indent="-196342" algn="l">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Photos in Firebase Storage</a:t>
            </a:r>
            <a:endParaRPr lang="en-US" sz="1600" dirty="0"/>
          </a:p>
          <a:p>
            <a:pPr marL="196342" indent="-196342" algn="l">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Swagger, Postman, 41 tests, Render</a:t>
            </a:r>
            <a:endParaRPr lang="en-US" sz="1600" dirty="0"/>
          </a:p>
        </p:txBody>
      </p:sp>
      <p:sp>
        <p:nvSpPr>
          <p:cNvPr id="6" name="Text 4"/>
          <p:cNvSpPr/>
          <p:nvPr/>
        </p:nvSpPr>
        <p:spPr>
          <a:xfrm>
            <a:off x="6299200" y="2001441"/>
            <a:ext cx="52324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2A266"/>
                </a:solidFill>
                <a:latin typeface="Rubik" pitchFamily="34" charset="0"/>
                <a:ea typeface="Rubik" pitchFamily="34" charset="-122"/>
                <a:cs typeface="Rubik" pitchFamily="34" charset="-120"/>
              </a:rPr>
              <a:t>Next steps</a:t>
            </a:r>
            <a:endParaRPr lang="en-US" sz="2000" dirty="0"/>
          </a:p>
        </p:txBody>
      </p:sp>
      <p:sp>
        <p:nvSpPr>
          <p:cNvPr id="7" name="Text 5"/>
          <p:cNvSpPr/>
          <p:nvPr/>
        </p:nvSpPr>
        <p:spPr>
          <a:xfrm>
            <a:off x="6356858" y="2407841"/>
            <a:ext cx="5167122" cy="1163241"/>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Rate limiting and refresh tokens</a:t>
            </a:r>
            <a:endParaRPr lang="en-US" sz="1600" dirty="0"/>
          </a:p>
          <a:p>
            <a:pPr marL="196342" indent="-196342" algn="l">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Image thumbnails</a:t>
            </a:r>
            <a:endParaRPr lang="en-US" sz="1600" dirty="0"/>
          </a:p>
          <a:p>
            <a:pPr marL="196342" indent="-196342" algn="l">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Atlas Search for ranking</a:t>
            </a:r>
            <a:endParaRPr lang="en-US" sz="1600" dirty="0"/>
          </a:p>
          <a:p>
            <a:pPr marL="196342" indent="-196342" algn="l">
              <a:lnSpc>
                <a:spcPts val="2240"/>
              </a:lnSpc>
              <a:buSzPct val="100000"/>
              <a:buChar char="•"/>
            </a:pPr>
            <a:r>
              <a:rPr lang="en-US" sz="1600" dirty="0">
                <a:solidFill>
                  <a:srgbClr val="DDE3EE"/>
                </a:solidFill>
                <a:latin typeface="IBM Plex Sans" pitchFamily="34" charset="0"/>
                <a:ea typeface="IBM Plex Sans" pitchFamily="34" charset="-122"/>
                <a:cs typeface="IBM Plex Sans" pitchFamily="34" charset="-120"/>
              </a:rPr>
              <a:t>A web or mobile frontend</a:t>
            </a:r>
            <a:endParaRPr lang="en-US" sz="1600" dirty="0"/>
          </a:p>
        </p:txBody>
      </p:sp>
      <p:sp>
        <p:nvSpPr>
          <p:cNvPr id="8" name="Text 6"/>
          <p:cNvSpPr/>
          <p:nvPr/>
        </p:nvSpPr>
        <p:spPr>
          <a:xfrm>
            <a:off x="812800" y="3799681"/>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6F4EF"/>
                </a:solidFill>
                <a:latin typeface="Rubik" pitchFamily="34" charset="0"/>
                <a:ea typeface="Rubik" pitchFamily="34" charset="-122"/>
                <a:cs typeface="Rubik" pitchFamily="34" charset="-120"/>
              </a:rPr>
              <a:t>Thank you – questions?</a:t>
            </a:r>
            <a:endParaRPr lang="en-US" sz="20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6BC"/>
                </a:solidFill>
                <a:latin typeface="IBM Plex Sans" pitchFamily="34" charset="0"/>
                <a:ea typeface="IBM Plex Sans" pitchFamily="34" charset="-122"/>
                <a:cs typeface="IBM Plex Sans" pitchFamily="34" charset="-120"/>
              </a:rPr>
              <a:t>TownRate · Case Study 95 · 11</a:t>
            </a:r>
            <a:endParaRPr lang="en-US" sz="1200" dirty="0"/>
          </a:p>
        </p:txBody>
      </p:sp>
    </p:spTree>
  </p:cSld>
  <p:clrMapOvr>
    <a:masterClrMapping/>
  </p:clrMapOvr>
</p:sld>
</file>

<file path=ppt/theme/theme1.xml><?xml version="1.0" encoding="utf-8"?>
<a:theme xmlns:a="http://schemas.openxmlformats.org/drawingml/2006/main" name="TownRate – Case Study Presentation">
  <a:themeElements>
    <a:clrScheme name="TownRate – Case Study Presentation">
      <a:dk1>
        <a:srgbClr val="44506A"/>
      </a:dk1>
      <a:lt1>
        <a:srgbClr val="F6F4EF"/>
      </a:lt1>
      <a:dk2>
        <a:srgbClr val="71798B"/>
      </a:dk2>
      <a:lt2>
        <a:srgbClr val="E4E4E2"/>
      </a:lt2>
      <a:accent1>
        <a:srgbClr val="15233F"/>
      </a:accent1>
      <a:accent2>
        <a:srgbClr val="B4541C"/>
      </a:accent2>
      <a:accent3>
        <a:srgbClr val="F2A266"/>
      </a:accent3>
      <a:accent4>
        <a:srgbClr val="6B7590"/>
      </a:accent4>
      <a:accent5>
        <a:srgbClr val="BCC6D8"/>
      </a:accent5>
      <a:accent6>
        <a:srgbClr val="DDE3EE"/>
      </a:accent6>
      <a:hlink>
        <a:srgbClr val="0563C1"/>
      </a:hlink>
      <a:folHlink>
        <a:srgbClr val="954F72"/>
      </a:folHlink>
    </a:clrScheme>
    <a:fontScheme name="TownRate – Case Study Presentation">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425</TotalTime>
  <Words>1533</Words>
  <Application>Microsoft Macintosh PowerPoint</Application>
  <PresentationFormat>Widescreen</PresentationFormat>
  <Paragraphs>152</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IBM Plex Sans</vt:lpstr>
      <vt:lpstr>JetBrains Mono</vt:lpstr>
      <vt:lpstr>Rubik</vt:lpstr>
      <vt:lpstr>TownRate – Case Study Presentation</vt:lpstr>
      <vt:lpstr>TownRate</vt:lpstr>
      <vt:lpstr>People need to find – and trust – local businesses</vt:lpstr>
      <vt:lpstr>Every requirement is covered</vt:lpstr>
      <vt:lpstr>A request passes through five layers</vt:lpstr>
      <vt:lpstr>Four collections</vt:lpstr>
      <vt:lpstr>Two ways in, one token</vt:lpstr>
      <vt:lpstr>Search, near me and fair ratings</vt:lpstr>
      <vt:lpstr>Photos: validate first, roll back on failure</vt:lpstr>
      <vt:lpstr>How we know it works</vt:lpstr>
      <vt:lpstr>Render + MongoDB Atlas</vt:lpstr>
      <vt:lpstr>All requirements met, both optional features built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TownRate – Case Study Presentation</dc:title>
  <dc:subject/>
  <dc:creator/>
  <cp:lastModifiedBy>Aditya Sunil Chouksey</cp:lastModifiedBy>
  <cp:revision>2</cp:revision>
  <dcterms:created xsi:type="dcterms:W3CDTF">2026-10-06T02:28:48Z</dcterms:created>
  <dcterms:modified xsi:type="dcterms:W3CDTF">2026-10-06T09:35:05Z</dcterms:modified>
</cp:coreProperties>
</file>